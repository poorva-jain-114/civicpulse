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Tomorrow Bold" panose="020B0604020202020204" charset="0"/>
      <p:regular r:id="rId17"/>
    </p:embeddedFont>
    <p:embeddedFont>
      <p:font typeface="Tomorrow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9" d="100"/>
          <a:sy n="59" d="100"/>
        </p:scale>
        <p:origin x="418" y="-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1EDB5B-771C-4E3C-AD4B-B518E09775AF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4BD8E3-00D0-4A84-8CCA-2554850A134B}">
      <dgm:prSet custT="1"/>
      <dgm:spPr/>
      <dgm:t>
        <a:bodyPr/>
        <a:lstStyle/>
        <a:p>
          <a:pPr rtl="0"/>
          <a:r>
            <a:rPr lang="en-US" sz="3600" b="1" dirty="0" smtClean="0"/>
            <a:t>Problem Definition: </a:t>
          </a:r>
          <a:r>
            <a:rPr lang="en-US" sz="3600" dirty="0" smtClean="0"/>
            <a:t>Citizens need government action. Governments need prioritized, actionable intelligence. </a:t>
          </a:r>
          <a:endParaRPr lang="en-IN" sz="3600" dirty="0"/>
        </a:p>
      </dgm:t>
    </dgm:pt>
    <dgm:pt modelId="{82119A50-9599-4E55-8A23-99AC799CD978}" type="parTrans" cxnId="{B507F4DB-C10D-40CF-9A28-E9E5ACB3123C}">
      <dgm:prSet/>
      <dgm:spPr/>
      <dgm:t>
        <a:bodyPr/>
        <a:lstStyle/>
        <a:p>
          <a:endParaRPr lang="en-US"/>
        </a:p>
      </dgm:t>
    </dgm:pt>
    <dgm:pt modelId="{C36547E9-FD45-4CD7-B27A-4A858DCE8D3C}" type="sibTrans" cxnId="{B507F4DB-C10D-40CF-9A28-E9E5ACB3123C}">
      <dgm:prSet/>
      <dgm:spPr/>
      <dgm:t>
        <a:bodyPr/>
        <a:lstStyle/>
        <a:p>
          <a:endParaRPr lang="en-US"/>
        </a:p>
      </dgm:t>
    </dgm:pt>
    <dgm:pt modelId="{5119B8BF-5D77-4CD6-9394-53ACBAC8539A}">
      <dgm:prSet custT="1"/>
      <dgm:spPr/>
      <dgm:t>
        <a:bodyPr/>
        <a:lstStyle/>
        <a:p>
          <a:pPr rtl="0"/>
          <a:r>
            <a:rPr lang="en-US" sz="3600" dirty="0" smtClean="0"/>
            <a:t>Today: Citizen → Manual Form → Officer Inbox → (Often Lost).</a:t>
          </a:r>
          <a:endParaRPr lang="en-IN" sz="3600" dirty="0"/>
        </a:p>
      </dgm:t>
    </dgm:pt>
    <dgm:pt modelId="{773B4279-BB22-4D15-A47F-104DDB06A7B9}" type="parTrans" cxnId="{447ACB42-DF92-48D3-8DB6-4BFC643C6654}">
      <dgm:prSet/>
      <dgm:spPr/>
      <dgm:t>
        <a:bodyPr/>
        <a:lstStyle/>
        <a:p>
          <a:endParaRPr lang="en-US"/>
        </a:p>
      </dgm:t>
    </dgm:pt>
    <dgm:pt modelId="{FF67DCCF-FC42-4C38-BF12-3C457B1E90F1}" type="sibTrans" cxnId="{447ACB42-DF92-48D3-8DB6-4BFC643C6654}">
      <dgm:prSet/>
      <dgm:spPr/>
      <dgm:t>
        <a:bodyPr/>
        <a:lstStyle/>
        <a:p>
          <a:endParaRPr lang="en-US"/>
        </a:p>
      </dgm:t>
    </dgm:pt>
    <dgm:pt modelId="{87AEA56D-AEB3-4E5C-8643-0FD7F12B669B}" type="pres">
      <dgm:prSet presAssocID="{B11EDB5B-771C-4E3C-AD4B-B518E09775AF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203C79B7-D37E-440E-BF8A-175C21911DC0}" type="pres">
      <dgm:prSet presAssocID="{084BD8E3-00D0-4A84-8CCA-2554850A134B}" presName="circle1" presStyleLbl="node1" presStyleIdx="0" presStyleCnt="2"/>
      <dgm:spPr/>
    </dgm:pt>
    <dgm:pt modelId="{2399F1A9-199B-4C39-8C6F-21ACE2ED2E46}" type="pres">
      <dgm:prSet presAssocID="{084BD8E3-00D0-4A84-8CCA-2554850A134B}" presName="space" presStyleCnt="0"/>
      <dgm:spPr/>
    </dgm:pt>
    <dgm:pt modelId="{79F9232B-6799-463F-8AB2-B091507D19EE}" type="pres">
      <dgm:prSet presAssocID="{084BD8E3-00D0-4A84-8CCA-2554850A134B}" presName="rect1" presStyleLbl="alignAcc1" presStyleIdx="0" presStyleCnt="2"/>
      <dgm:spPr/>
      <dgm:t>
        <a:bodyPr/>
        <a:lstStyle/>
        <a:p>
          <a:endParaRPr lang="en-IN"/>
        </a:p>
      </dgm:t>
    </dgm:pt>
    <dgm:pt modelId="{E714BB23-E50A-412A-A3CC-29E91567AC62}" type="pres">
      <dgm:prSet presAssocID="{5119B8BF-5D77-4CD6-9394-53ACBAC8539A}" presName="vertSpace2" presStyleLbl="node1" presStyleIdx="0" presStyleCnt="2"/>
      <dgm:spPr/>
    </dgm:pt>
    <dgm:pt modelId="{94826F78-CCCB-4D48-BAD8-BCA71E560226}" type="pres">
      <dgm:prSet presAssocID="{5119B8BF-5D77-4CD6-9394-53ACBAC8539A}" presName="circle2" presStyleLbl="node1" presStyleIdx="1" presStyleCnt="2"/>
      <dgm:spPr/>
    </dgm:pt>
    <dgm:pt modelId="{256C4FE6-0320-4076-8D1D-31AA705C88FF}" type="pres">
      <dgm:prSet presAssocID="{5119B8BF-5D77-4CD6-9394-53ACBAC8539A}" presName="rect2" presStyleLbl="alignAcc1" presStyleIdx="1" presStyleCnt="2" custScaleY="95600" custLinFactNeighborX="-337" custLinFactNeighborY="12444"/>
      <dgm:spPr/>
      <dgm:t>
        <a:bodyPr/>
        <a:lstStyle/>
        <a:p>
          <a:endParaRPr lang="en-IN"/>
        </a:p>
      </dgm:t>
    </dgm:pt>
    <dgm:pt modelId="{293CFC7F-E7F0-4785-98E7-9CE195956D20}" type="pres">
      <dgm:prSet presAssocID="{084BD8E3-00D0-4A84-8CCA-2554850A134B}" presName="rect1ParTxNoCh" presStyleLbl="alignAcc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B1C8722-62E1-437D-B4E3-3C86C7A78D49}" type="pres">
      <dgm:prSet presAssocID="{5119B8BF-5D77-4CD6-9394-53ACBAC8539A}" presName="rect2ParTxNoCh" presStyleLbl="alignAcc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6EB54356-24DB-41B0-A45E-0218E9FDC955}" type="presOf" srcId="{B11EDB5B-771C-4E3C-AD4B-B518E09775AF}" destId="{87AEA56D-AEB3-4E5C-8643-0FD7F12B669B}" srcOrd="0" destOrd="0" presId="urn:microsoft.com/office/officeart/2005/8/layout/target3"/>
    <dgm:cxn modelId="{30D7235A-B426-423B-81C4-1C121155E1F9}" type="presOf" srcId="{5119B8BF-5D77-4CD6-9394-53ACBAC8539A}" destId="{256C4FE6-0320-4076-8D1D-31AA705C88FF}" srcOrd="0" destOrd="0" presId="urn:microsoft.com/office/officeart/2005/8/layout/target3"/>
    <dgm:cxn modelId="{AC25EA59-1007-4F01-9B80-99DE393F392B}" type="presOf" srcId="{5119B8BF-5D77-4CD6-9394-53ACBAC8539A}" destId="{4B1C8722-62E1-437D-B4E3-3C86C7A78D49}" srcOrd="1" destOrd="0" presId="urn:microsoft.com/office/officeart/2005/8/layout/target3"/>
    <dgm:cxn modelId="{BB9FFD3E-6097-4F01-888D-4F4CC6CF1ADC}" type="presOf" srcId="{084BD8E3-00D0-4A84-8CCA-2554850A134B}" destId="{79F9232B-6799-463F-8AB2-B091507D19EE}" srcOrd="0" destOrd="0" presId="urn:microsoft.com/office/officeart/2005/8/layout/target3"/>
    <dgm:cxn modelId="{E98254FD-73B4-482F-9CA3-E8E859756271}" type="presOf" srcId="{084BD8E3-00D0-4A84-8CCA-2554850A134B}" destId="{293CFC7F-E7F0-4785-98E7-9CE195956D20}" srcOrd="1" destOrd="0" presId="urn:microsoft.com/office/officeart/2005/8/layout/target3"/>
    <dgm:cxn modelId="{B507F4DB-C10D-40CF-9A28-E9E5ACB3123C}" srcId="{B11EDB5B-771C-4E3C-AD4B-B518E09775AF}" destId="{084BD8E3-00D0-4A84-8CCA-2554850A134B}" srcOrd="0" destOrd="0" parTransId="{82119A50-9599-4E55-8A23-99AC799CD978}" sibTransId="{C36547E9-FD45-4CD7-B27A-4A858DCE8D3C}"/>
    <dgm:cxn modelId="{447ACB42-DF92-48D3-8DB6-4BFC643C6654}" srcId="{B11EDB5B-771C-4E3C-AD4B-B518E09775AF}" destId="{5119B8BF-5D77-4CD6-9394-53ACBAC8539A}" srcOrd="1" destOrd="0" parTransId="{773B4279-BB22-4D15-A47F-104DDB06A7B9}" sibTransId="{FF67DCCF-FC42-4C38-BF12-3C457B1E90F1}"/>
    <dgm:cxn modelId="{D596338A-2A44-4CAB-8506-51F387CE9B97}" type="presParOf" srcId="{87AEA56D-AEB3-4E5C-8643-0FD7F12B669B}" destId="{203C79B7-D37E-440E-BF8A-175C21911DC0}" srcOrd="0" destOrd="0" presId="urn:microsoft.com/office/officeart/2005/8/layout/target3"/>
    <dgm:cxn modelId="{AA1F0AE8-5FD6-41DC-9494-9FDBB305D9B5}" type="presParOf" srcId="{87AEA56D-AEB3-4E5C-8643-0FD7F12B669B}" destId="{2399F1A9-199B-4C39-8C6F-21ACE2ED2E46}" srcOrd="1" destOrd="0" presId="urn:microsoft.com/office/officeart/2005/8/layout/target3"/>
    <dgm:cxn modelId="{74475022-4299-4F92-80EF-9B97CFAED3B9}" type="presParOf" srcId="{87AEA56D-AEB3-4E5C-8643-0FD7F12B669B}" destId="{79F9232B-6799-463F-8AB2-B091507D19EE}" srcOrd="2" destOrd="0" presId="urn:microsoft.com/office/officeart/2005/8/layout/target3"/>
    <dgm:cxn modelId="{133912FF-A994-42EA-B287-0AFE54330DE6}" type="presParOf" srcId="{87AEA56D-AEB3-4E5C-8643-0FD7F12B669B}" destId="{E714BB23-E50A-412A-A3CC-29E91567AC62}" srcOrd="3" destOrd="0" presId="urn:microsoft.com/office/officeart/2005/8/layout/target3"/>
    <dgm:cxn modelId="{4A5DDA16-059A-40E6-8903-57A4F01D2E17}" type="presParOf" srcId="{87AEA56D-AEB3-4E5C-8643-0FD7F12B669B}" destId="{94826F78-CCCB-4D48-BAD8-BCA71E560226}" srcOrd="4" destOrd="0" presId="urn:microsoft.com/office/officeart/2005/8/layout/target3"/>
    <dgm:cxn modelId="{42A14660-703A-48FC-AEA6-45519C83AA6B}" type="presParOf" srcId="{87AEA56D-AEB3-4E5C-8643-0FD7F12B669B}" destId="{256C4FE6-0320-4076-8D1D-31AA705C88FF}" srcOrd="5" destOrd="0" presId="urn:microsoft.com/office/officeart/2005/8/layout/target3"/>
    <dgm:cxn modelId="{7711D08D-5CC0-443E-85E6-5C93B055226B}" type="presParOf" srcId="{87AEA56D-AEB3-4E5C-8643-0FD7F12B669B}" destId="{293CFC7F-E7F0-4785-98E7-9CE195956D20}" srcOrd="6" destOrd="0" presId="urn:microsoft.com/office/officeart/2005/8/layout/target3"/>
    <dgm:cxn modelId="{2A49FFD4-BFD5-4059-A9A9-367D27121DED}" type="presParOf" srcId="{87AEA56D-AEB3-4E5C-8643-0FD7F12B669B}" destId="{4B1C8722-62E1-437D-B4E3-3C86C7A78D49}" srcOrd="7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C848D5-D370-40D1-84AA-CD5AFB97221A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4B31C89-087E-46D8-BF2C-AB543A50D7DC}">
      <dgm:prSet custT="1"/>
      <dgm:spPr/>
      <dgm:t>
        <a:bodyPr/>
        <a:lstStyle/>
        <a:p>
          <a:pPr rtl="0"/>
          <a:r>
            <a:rPr lang="en-US" sz="3600" b="1" dirty="0" smtClean="0"/>
            <a:t>Impact: </a:t>
          </a:r>
          <a:r>
            <a:rPr lang="en-US" sz="3100" dirty="0" smtClean="0"/>
            <a:t>Critical issues (open manhole near school) treated same as minor </a:t>
          </a:r>
          <a:r>
            <a:rPr lang="en-US" sz="3100" dirty="0" err="1" smtClean="0"/>
            <a:t>potholes.Actual</a:t>
          </a:r>
          <a:r>
            <a:rPr lang="en-US" sz="3100" dirty="0" smtClean="0"/>
            <a:t> problem severity unknown Government resources misallocated Citizens frustrated, less likely to report next time.</a:t>
          </a:r>
          <a:endParaRPr lang="en-IN" sz="3100" dirty="0"/>
        </a:p>
      </dgm:t>
    </dgm:pt>
    <dgm:pt modelId="{20386BDF-0350-459D-849F-8697D96339F5}" type="parTrans" cxnId="{A3BE522F-CEF5-48E7-8F26-D040AE73C1B2}">
      <dgm:prSet/>
      <dgm:spPr/>
      <dgm:t>
        <a:bodyPr/>
        <a:lstStyle/>
        <a:p>
          <a:endParaRPr lang="en-US"/>
        </a:p>
      </dgm:t>
    </dgm:pt>
    <dgm:pt modelId="{8636474C-4B3A-4636-8070-2FC2C651AF13}" type="sibTrans" cxnId="{A3BE522F-CEF5-48E7-8F26-D040AE73C1B2}">
      <dgm:prSet/>
      <dgm:spPr/>
      <dgm:t>
        <a:bodyPr/>
        <a:lstStyle/>
        <a:p>
          <a:endParaRPr lang="en-US"/>
        </a:p>
      </dgm:t>
    </dgm:pt>
    <dgm:pt modelId="{491F8438-11C0-4009-8198-35D1D5D24E14}" type="pres">
      <dgm:prSet presAssocID="{C5C848D5-D370-40D1-84AA-CD5AFB97221A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468ED8AB-434F-4F93-A946-FA608654AF44}" type="pres">
      <dgm:prSet presAssocID="{24B31C89-087E-46D8-BF2C-AB543A50D7DC}" presName="circle1" presStyleLbl="node1" presStyleIdx="0" presStyleCnt="1"/>
      <dgm:spPr/>
    </dgm:pt>
    <dgm:pt modelId="{FCF8C47F-BC33-4FAF-A492-C347560BC15A}" type="pres">
      <dgm:prSet presAssocID="{24B31C89-087E-46D8-BF2C-AB543A50D7DC}" presName="space" presStyleCnt="0"/>
      <dgm:spPr/>
    </dgm:pt>
    <dgm:pt modelId="{2681ACFD-1A7E-418F-B7A7-6A32C52003D7}" type="pres">
      <dgm:prSet presAssocID="{24B31C89-087E-46D8-BF2C-AB543A50D7DC}" presName="rect1" presStyleLbl="alignAcc1" presStyleIdx="0" presStyleCnt="1" custLinFactNeighborX="303" custLinFactNeighborY="33107"/>
      <dgm:spPr/>
      <dgm:t>
        <a:bodyPr/>
        <a:lstStyle/>
        <a:p>
          <a:endParaRPr lang="en-IN"/>
        </a:p>
      </dgm:t>
    </dgm:pt>
    <dgm:pt modelId="{7F47247D-927D-4D93-A6BD-AB7C2CD020C0}" type="pres">
      <dgm:prSet presAssocID="{24B31C89-087E-46D8-BF2C-AB543A50D7DC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A3BE522F-CEF5-48E7-8F26-D040AE73C1B2}" srcId="{C5C848D5-D370-40D1-84AA-CD5AFB97221A}" destId="{24B31C89-087E-46D8-BF2C-AB543A50D7DC}" srcOrd="0" destOrd="0" parTransId="{20386BDF-0350-459D-849F-8697D96339F5}" sibTransId="{8636474C-4B3A-4636-8070-2FC2C651AF13}"/>
    <dgm:cxn modelId="{CF1F4FAB-0554-4538-807C-60A9E30CF369}" type="presOf" srcId="{C5C848D5-D370-40D1-84AA-CD5AFB97221A}" destId="{491F8438-11C0-4009-8198-35D1D5D24E14}" srcOrd="0" destOrd="0" presId="urn:microsoft.com/office/officeart/2005/8/layout/target3"/>
    <dgm:cxn modelId="{CD910B3F-3218-4C02-8155-2671D0365E16}" type="presOf" srcId="{24B31C89-087E-46D8-BF2C-AB543A50D7DC}" destId="{2681ACFD-1A7E-418F-B7A7-6A32C52003D7}" srcOrd="0" destOrd="0" presId="urn:microsoft.com/office/officeart/2005/8/layout/target3"/>
    <dgm:cxn modelId="{C12999C2-D9B6-45BC-AA58-BE6BB210AB29}" type="presOf" srcId="{24B31C89-087E-46D8-BF2C-AB543A50D7DC}" destId="{7F47247D-927D-4D93-A6BD-AB7C2CD020C0}" srcOrd="1" destOrd="0" presId="urn:microsoft.com/office/officeart/2005/8/layout/target3"/>
    <dgm:cxn modelId="{4FE027B8-A4D3-49F7-92DE-C07E1361104C}" type="presParOf" srcId="{491F8438-11C0-4009-8198-35D1D5D24E14}" destId="{468ED8AB-434F-4F93-A946-FA608654AF44}" srcOrd="0" destOrd="0" presId="urn:microsoft.com/office/officeart/2005/8/layout/target3"/>
    <dgm:cxn modelId="{B305C54F-1A98-4B23-BF26-51872E9843BD}" type="presParOf" srcId="{491F8438-11C0-4009-8198-35D1D5D24E14}" destId="{FCF8C47F-BC33-4FAF-A492-C347560BC15A}" srcOrd="1" destOrd="0" presId="urn:microsoft.com/office/officeart/2005/8/layout/target3"/>
    <dgm:cxn modelId="{BE620616-E3CD-4C1E-AE04-93CDBF0B6E49}" type="presParOf" srcId="{491F8438-11C0-4009-8198-35D1D5D24E14}" destId="{2681ACFD-1A7E-418F-B7A7-6A32C52003D7}" srcOrd="2" destOrd="0" presId="urn:microsoft.com/office/officeart/2005/8/layout/target3"/>
    <dgm:cxn modelId="{A0FB9D6F-4DF0-44F9-A322-3E3963D12CB3}" type="presParOf" srcId="{491F8438-11C0-4009-8198-35D1D5D24E14}" destId="{7F47247D-927D-4D93-A6BD-AB7C2CD020C0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8D5807-7660-4CF9-B512-3063ED768768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C7CD40-2455-470C-9682-CD656E8D934C}">
      <dgm:prSet custT="1"/>
      <dgm:spPr/>
      <dgm:t>
        <a:bodyPr/>
        <a:lstStyle/>
        <a:p>
          <a:pPr rtl="0"/>
          <a:r>
            <a:rPr lang="en-US" sz="3200" b="1" dirty="0" smtClean="0"/>
            <a:t>Current Pain Points</a:t>
          </a:r>
          <a:r>
            <a:rPr lang="en-US" sz="3200" b="1" dirty="0" smtClean="0"/>
            <a:t>:</a:t>
          </a:r>
          <a:r>
            <a:rPr lang="en-US" sz="3200" dirty="0" smtClean="0"/>
            <a:t> Citizens waste time filling complex forms Similar issues reported 50+ times (no duplication)  no intelligent prioritization → Everything seems equally urgent no location clustering → Department confusion Officers spend 70% of time reading, organizing, deciding Regional languages not supported Zero analytics → Civic intelligence invisible</a:t>
          </a:r>
          <a:endParaRPr lang="en-IN" sz="3200" b="1" dirty="0"/>
        </a:p>
      </dgm:t>
    </dgm:pt>
    <dgm:pt modelId="{D0EAE097-D53E-4884-BD4E-80076D007F36}" type="parTrans" cxnId="{37F3E5B0-E89C-4CC1-9ED6-B446936D7FBF}">
      <dgm:prSet/>
      <dgm:spPr/>
      <dgm:t>
        <a:bodyPr/>
        <a:lstStyle/>
        <a:p>
          <a:endParaRPr lang="en-US"/>
        </a:p>
      </dgm:t>
    </dgm:pt>
    <dgm:pt modelId="{D62AA683-154E-46EB-A202-D67D9E24B653}" type="sibTrans" cxnId="{37F3E5B0-E89C-4CC1-9ED6-B446936D7FBF}">
      <dgm:prSet/>
      <dgm:spPr/>
      <dgm:t>
        <a:bodyPr/>
        <a:lstStyle/>
        <a:p>
          <a:endParaRPr lang="en-US"/>
        </a:p>
      </dgm:t>
    </dgm:pt>
    <dgm:pt modelId="{646EA056-665B-4BD3-9072-CE448E669BC6}" type="pres">
      <dgm:prSet presAssocID="{9A8D5807-7660-4CF9-B512-3063ED768768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8673C781-60CA-4F30-AC6C-CED20B448B77}" type="pres">
      <dgm:prSet presAssocID="{3CC7CD40-2455-470C-9682-CD656E8D934C}" presName="circle1" presStyleLbl="node1" presStyleIdx="0" presStyleCnt="1"/>
      <dgm:spPr/>
    </dgm:pt>
    <dgm:pt modelId="{EFE19C87-FCAA-45A8-866E-1C7F627AE1C9}" type="pres">
      <dgm:prSet presAssocID="{3CC7CD40-2455-470C-9682-CD656E8D934C}" presName="space" presStyleCnt="0"/>
      <dgm:spPr/>
    </dgm:pt>
    <dgm:pt modelId="{94956456-8A15-4BFD-85B3-66666E3C73A8}" type="pres">
      <dgm:prSet presAssocID="{3CC7CD40-2455-470C-9682-CD656E8D934C}" presName="rect1" presStyleLbl="alignAcc1" presStyleIdx="0" presStyleCnt="1" custScaleX="100000" custLinFactNeighborX="-806" custLinFactNeighborY="25284"/>
      <dgm:spPr/>
      <dgm:t>
        <a:bodyPr/>
        <a:lstStyle/>
        <a:p>
          <a:endParaRPr lang="en-IN"/>
        </a:p>
      </dgm:t>
    </dgm:pt>
    <dgm:pt modelId="{FC89AEBB-470E-4F64-9026-2AB9655B62FE}" type="pres">
      <dgm:prSet presAssocID="{3CC7CD40-2455-470C-9682-CD656E8D934C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37FACBF4-899E-4E09-A786-77A03F2F2978}" type="presOf" srcId="{3CC7CD40-2455-470C-9682-CD656E8D934C}" destId="{FC89AEBB-470E-4F64-9026-2AB9655B62FE}" srcOrd="1" destOrd="0" presId="urn:microsoft.com/office/officeart/2005/8/layout/target3"/>
    <dgm:cxn modelId="{37F3E5B0-E89C-4CC1-9ED6-B446936D7FBF}" srcId="{9A8D5807-7660-4CF9-B512-3063ED768768}" destId="{3CC7CD40-2455-470C-9682-CD656E8D934C}" srcOrd="0" destOrd="0" parTransId="{D0EAE097-D53E-4884-BD4E-80076D007F36}" sibTransId="{D62AA683-154E-46EB-A202-D67D9E24B653}"/>
    <dgm:cxn modelId="{14E11F63-8845-42C0-A799-6DB79EBA212C}" type="presOf" srcId="{3CC7CD40-2455-470C-9682-CD656E8D934C}" destId="{94956456-8A15-4BFD-85B3-66666E3C73A8}" srcOrd="0" destOrd="0" presId="urn:microsoft.com/office/officeart/2005/8/layout/target3"/>
    <dgm:cxn modelId="{BDA190A3-E13B-463A-AE47-FD782D8BD430}" type="presOf" srcId="{9A8D5807-7660-4CF9-B512-3063ED768768}" destId="{646EA056-665B-4BD3-9072-CE448E669BC6}" srcOrd="0" destOrd="0" presId="urn:microsoft.com/office/officeart/2005/8/layout/target3"/>
    <dgm:cxn modelId="{58D232A4-A1D7-421A-9D4C-7B477FFF6047}" type="presParOf" srcId="{646EA056-665B-4BD3-9072-CE448E669BC6}" destId="{8673C781-60CA-4F30-AC6C-CED20B448B77}" srcOrd="0" destOrd="0" presId="urn:microsoft.com/office/officeart/2005/8/layout/target3"/>
    <dgm:cxn modelId="{CE5C36F4-CCBD-4EC1-85AE-47ACD7ED92B1}" type="presParOf" srcId="{646EA056-665B-4BD3-9072-CE448E669BC6}" destId="{EFE19C87-FCAA-45A8-866E-1C7F627AE1C9}" srcOrd="1" destOrd="0" presId="urn:microsoft.com/office/officeart/2005/8/layout/target3"/>
    <dgm:cxn modelId="{B373A62F-6ABE-47DB-9648-8B06E5A09D1D}" type="presParOf" srcId="{646EA056-665B-4BD3-9072-CE448E669BC6}" destId="{94956456-8A15-4BFD-85B3-66666E3C73A8}" srcOrd="2" destOrd="0" presId="urn:microsoft.com/office/officeart/2005/8/layout/target3"/>
    <dgm:cxn modelId="{F292AA59-B23F-435D-9F90-3AD479E9B800}" type="presParOf" srcId="{646EA056-665B-4BD3-9072-CE448E669BC6}" destId="{FC89AEBB-470E-4F64-9026-2AB9655B62FE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95FC2B-3ACC-442C-B292-D8BABD05496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C23BFDB-09EF-4E5A-939C-02B01AA9B52B}">
      <dgm:prSet/>
      <dgm:spPr/>
      <dgm:t>
        <a:bodyPr/>
        <a:lstStyle/>
        <a:p>
          <a:pPr rtl="0"/>
          <a:r>
            <a:rPr lang="en-IN" b="1" dirty="0" smtClean="0"/>
            <a:t>What's Missing Everywhere:</a:t>
          </a:r>
          <a:endParaRPr lang="en-IN" dirty="0"/>
        </a:p>
      </dgm:t>
    </dgm:pt>
    <dgm:pt modelId="{12C6DBCA-F3EE-46F5-AA75-D95E8B67135F}" type="parTrans" cxnId="{2EFE71F1-81A0-45E2-B187-0C73947B9100}">
      <dgm:prSet/>
      <dgm:spPr/>
      <dgm:t>
        <a:bodyPr/>
        <a:lstStyle/>
        <a:p>
          <a:endParaRPr lang="en-US"/>
        </a:p>
      </dgm:t>
    </dgm:pt>
    <dgm:pt modelId="{DD4F3EA2-393C-412E-8ECA-F7565256E767}" type="sibTrans" cxnId="{2EFE71F1-81A0-45E2-B187-0C73947B9100}">
      <dgm:prSet/>
      <dgm:spPr/>
      <dgm:t>
        <a:bodyPr/>
        <a:lstStyle/>
        <a:p>
          <a:endParaRPr lang="en-US"/>
        </a:p>
      </dgm:t>
    </dgm:pt>
    <dgm:pt modelId="{8138DA17-C2FC-47C3-8CDA-A80C3D9D555E}">
      <dgm:prSet custT="1"/>
      <dgm:spPr/>
      <dgm:t>
        <a:bodyPr/>
        <a:lstStyle/>
        <a:p>
          <a:pPr rtl="0"/>
          <a:r>
            <a:rPr lang="en-IN" sz="2400" dirty="0" smtClean="0"/>
            <a:t>❌ No AI to understand natural language</a:t>
          </a:r>
          <a:endParaRPr lang="en-IN" sz="2400" dirty="0"/>
        </a:p>
      </dgm:t>
    </dgm:pt>
    <dgm:pt modelId="{015F7CC8-A893-4698-9C8B-303C8570DB57}" type="parTrans" cxnId="{2E729171-8E38-4997-8F71-BE714CE0F39F}">
      <dgm:prSet/>
      <dgm:spPr/>
      <dgm:t>
        <a:bodyPr/>
        <a:lstStyle/>
        <a:p>
          <a:endParaRPr lang="en-US"/>
        </a:p>
      </dgm:t>
    </dgm:pt>
    <dgm:pt modelId="{F0E8036B-8FED-464D-B3FD-350740B050C4}" type="sibTrans" cxnId="{2E729171-8E38-4997-8F71-BE714CE0F39F}">
      <dgm:prSet/>
      <dgm:spPr/>
      <dgm:t>
        <a:bodyPr/>
        <a:lstStyle/>
        <a:p>
          <a:endParaRPr lang="en-US"/>
        </a:p>
      </dgm:t>
    </dgm:pt>
    <dgm:pt modelId="{3D7BAC4A-6A46-4781-8F7D-3E4AED9A64D0}">
      <dgm:prSet custT="1"/>
      <dgm:spPr/>
      <dgm:t>
        <a:bodyPr/>
        <a:lstStyle/>
        <a:p>
          <a:pPr rtl="0"/>
          <a:r>
            <a:rPr lang="en-IN" sz="2400" dirty="0" smtClean="0"/>
            <a:t>❌ No duplicate detection → Same issue reported 50 times </a:t>
          </a:r>
          <a:endParaRPr lang="en-IN" sz="2400" dirty="0"/>
        </a:p>
      </dgm:t>
    </dgm:pt>
    <dgm:pt modelId="{66E625D9-B391-41DE-B7B5-A941B80B59A3}" type="parTrans" cxnId="{77184C1B-B8DF-4BB1-8410-4C1EA45A1EB1}">
      <dgm:prSet/>
      <dgm:spPr/>
      <dgm:t>
        <a:bodyPr/>
        <a:lstStyle/>
        <a:p>
          <a:endParaRPr lang="en-US"/>
        </a:p>
      </dgm:t>
    </dgm:pt>
    <dgm:pt modelId="{B1C33895-C7A2-46B2-B629-661BF55CA5BF}" type="sibTrans" cxnId="{77184C1B-B8DF-4BB1-8410-4C1EA45A1EB1}">
      <dgm:prSet/>
      <dgm:spPr/>
      <dgm:t>
        <a:bodyPr/>
        <a:lstStyle/>
        <a:p>
          <a:endParaRPr lang="en-US"/>
        </a:p>
      </dgm:t>
    </dgm:pt>
    <dgm:pt modelId="{9967D488-C414-46BA-B897-2C1941E1C5B5}">
      <dgm:prSet custT="1"/>
      <dgm:spPr/>
      <dgm:t>
        <a:bodyPr/>
        <a:lstStyle/>
        <a:p>
          <a:pPr rtl="0"/>
          <a:r>
            <a:rPr lang="en-IN" sz="2400" dirty="0" smtClean="0"/>
            <a:t>❌ No intelligent routing → Wrong department assigned</a:t>
          </a:r>
          <a:endParaRPr lang="en-IN" sz="2400" dirty="0"/>
        </a:p>
      </dgm:t>
    </dgm:pt>
    <dgm:pt modelId="{A73548EB-C475-43AD-8ED9-C0BF2D9A84D8}" type="parTrans" cxnId="{B76DBE61-D7F4-4C69-B77D-CA651488A7D5}">
      <dgm:prSet/>
      <dgm:spPr/>
      <dgm:t>
        <a:bodyPr/>
        <a:lstStyle/>
        <a:p>
          <a:endParaRPr lang="en-US"/>
        </a:p>
      </dgm:t>
    </dgm:pt>
    <dgm:pt modelId="{ED47872D-A9A1-4E99-9785-45F564D3B1B7}" type="sibTrans" cxnId="{B76DBE61-D7F4-4C69-B77D-CA651488A7D5}">
      <dgm:prSet/>
      <dgm:spPr/>
      <dgm:t>
        <a:bodyPr/>
        <a:lstStyle/>
        <a:p>
          <a:endParaRPr lang="en-US"/>
        </a:p>
      </dgm:t>
    </dgm:pt>
    <dgm:pt modelId="{0A757AE4-E409-4930-AA4D-C707073A3746}">
      <dgm:prSet custT="1"/>
      <dgm:spPr/>
      <dgm:t>
        <a:bodyPr/>
        <a:lstStyle/>
        <a:p>
          <a:pPr rtl="0"/>
          <a:r>
            <a:rPr lang="en-IN" sz="2400" dirty="0" smtClean="0"/>
            <a:t>❌ No priority system → All issues treated equally </a:t>
          </a:r>
          <a:endParaRPr lang="en-IN" sz="2400" dirty="0"/>
        </a:p>
      </dgm:t>
    </dgm:pt>
    <dgm:pt modelId="{2EA6B555-E1E8-47E5-9697-BE61FE3E5797}" type="parTrans" cxnId="{A20A4AA0-03CD-4A7C-9B66-20AF92CF62EC}">
      <dgm:prSet/>
      <dgm:spPr/>
      <dgm:t>
        <a:bodyPr/>
        <a:lstStyle/>
        <a:p>
          <a:endParaRPr lang="en-US"/>
        </a:p>
      </dgm:t>
    </dgm:pt>
    <dgm:pt modelId="{E5E7C883-1536-41D1-91F4-107C49F4AB75}" type="sibTrans" cxnId="{A20A4AA0-03CD-4A7C-9B66-20AF92CF62EC}">
      <dgm:prSet/>
      <dgm:spPr/>
      <dgm:t>
        <a:bodyPr/>
        <a:lstStyle/>
        <a:p>
          <a:endParaRPr lang="en-US"/>
        </a:p>
      </dgm:t>
    </dgm:pt>
    <dgm:pt modelId="{58E53279-8638-46C3-A579-817BB8BF3AA8}">
      <dgm:prSet custT="1"/>
      <dgm:spPr/>
      <dgm:t>
        <a:bodyPr/>
        <a:lstStyle/>
        <a:p>
          <a:pPr rtl="0"/>
          <a:r>
            <a:rPr lang="en-IN" sz="2400" dirty="0" smtClean="0"/>
            <a:t>❌ No executive summaries → Officers waste time reading </a:t>
          </a:r>
          <a:endParaRPr lang="en-IN" sz="2400" dirty="0"/>
        </a:p>
      </dgm:t>
    </dgm:pt>
    <dgm:pt modelId="{5622F54B-7A6F-40C9-BEC5-07239EFBBEE0}" type="parTrans" cxnId="{8689D05C-0B9D-4E48-9E67-E3AD0F4A5BD2}">
      <dgm:prSet/>
      <dgm:spPr/>
      <dgm:t>
        <a:bodyPr/>
        <a:lstStyle/>
        <a:p>
          <a:endParaRPr lang="en-US"/>
        </a:p>
      </dgm:t>
    </dgm:pt>
    <dgm:pt modelId="{30F7FBA8-C836-46F0-AAAD-AA5695BEB366}" type="sibTrans" cxnId="{8689D05C-0B9D-4E48-9E67-E3AD0F4A5BD2}">
      <dgm:prSet/>
      <dgm:spPr/>
      <dgm:t>
        <a:bodyPr/>
        <a:lstStyle/>
        <a:p>
          <a:endParaRPr lang="en-US"/>
        </a:p>
      </dgm:t>
    </dgm:pt>
    <dgm:pt modelId="{A8B85346-5743-4D69-AC3B-7147A46A108E}">
      <dgm:prSet custT="1"/>
      <dgm:spPr/>
      <dgm:t>
        <a:bodyPr/>
        <a:lstStyle/>
        <a:p>
          <a:pPr rtl="0"/>
          <a:r>
            <a:rPr lang="en-IN" sz="2400" dirty="0" smtClean="0"/>
            <a:t>❌ No multi-language support → Exclude 90% of citizens </a:t>
          </a:r>
          <a:endParaRPr lang="en-IN" sz="2400" dirty="0"/>
        </a:p>
      </dgm:t>
    </dgm:pt>
    <dgm:pt modelId="{591E82A4-0B1F-4159-B2BF-FDDB2610D035}" type="parTrans" cxnId="{3390359E-2682-4FEF-9BC7-DBC8966AACF8}">
      <dgm:prSet/>
      <dgm:spPr/>
      <dgm:t>
        <a:bodyPr/>
        <a:lstStyle/>
        <a:p>
          <a:endParaRPr lang="en-US"/>
        </a:p>
      </dgm:t>
    </dgm:pt>
    <dgm:pt modelId="{CA21450D-0025-4D3C-BAB1-2F3F284514EE}" type="sibTrans" cxnId="{3390359E-2682-4FEF-9BC7-DBC8966AACF8}">
      <dgm:prSet/>
      <dgm:spPr/>
      <dgm:t>
        <a:bodyPr/>
        <a:lstStyle/>
        <a:p>
          <a:endParaRPr lang="en-US"/>
        </a:p>
      </dgm:t>
    </dgm:pt>
    <dgm:pt modelId="{F6C7C620-E72F-4FC6-91C9-2CABF285CE81}">
      <dgm:prSet custT="1"/>
      <dgm:spPr/>
      <dgm:t>
        <a:bodyPr/>
        <a:lstStyle/>
        <a:p>
          <a:pPr rtl="0"/>
          <a:r>
            <a:rPr lang="en-IN" sz="2400" dirty="0" smtClean="0"/>
            <a:t>❌ No analytics → City learns nothing from patterns  </a:t>
          </a:r>
          <a:endParaRPr lang="en-IN" sz="2400" dirty="0"/>
        </a:p>
      </dgm:t>
    </dgm:pt>
    <dgm:pt modelId="{BB8BBAD3-BE1A-403F-B03C-2CC144E5170D}" type="parTrans" cxnId="{33212501-618B-49E7-A933-5889C145A2A4}">
      <dgm:prSet/>
      <dgm:spPr/>
      <dgm:t>
        <a:bodyPr/>
        <a:lstStyle/>
        <a:p>
          <a:endParaRPr lang="en-US"/>
        </a:p>
      </dgm:t>
    </dgm:pt>
    <dgm:pt modelId="{7FE3578F-3634-4037-941A-51D6D9DE49C8}" type="sibTrans" cxnId="{33212501-618B-49E7-A933-5889C145A2A4}">
      <dgm:prSet/>
      <dgm:spPr/>
      <dgm:t>
        <a:bodyPr/>
        <a:lstStyle/>
        <a:p>
          <a:endParaRPr lang="en-US"/>
        </a:p>
      </dgm:t>
    </dgm:pt>
    <dgm:pt modelId="{C03DE1BB-D2B6-4C18-8562-83D165B31997}" type="pres">
      <dgm:prSet presAssocID="{6695FC2B-3ACC-442C-B292-D8BABD05496C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B309EA02-2532-40F3-86EF-EBDDC800D1F7}" type="pres">
      <dgm:prSet presAssocID="{0C23BFDB-09EF-4E5A-939C-02B01AA9B52B}" presName="composite" presStyleCnt="0"/>
      <dgm:spPr/>
    </dgm:pt>
    <dgm:pt modelId="{E28FBD40-3006-423F-A620-DF144945FD24}" type="pres">
      <dgm:prSet presAssocID="{0C23BFDB-09EF-4E5A-939C-02B01AA9B52B}" presName="imgShp" presStyleLbl="fgImgPlace1" presStyleIdx="0" presStyleCnt="8"/>
      <dgm:spPr/>
    </dgm:pt>
    <dgm:pt modelId="{030C8D21-B3B3-40D7-824E-9FFC3B380C82}" type="pres">
      <dgm:prSet presAssocID="{0C23BFDB-09EF-4E5A-939C-02B01AA9B52B}" presName="txShp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A52E71F-4269-4A91-A407-E4FEEAE23C8A}" type="pres">
      <dgm:prSet presAssocID="{DD4F3EA2-393C-412E-8ECA-F7565256E767}" presName="spacing" presStyleCnt="0"/>
      <dgm:spPr/>
    </dgm:pt>
    <dgm:pt modelId="{B1002351-E69E-425B-B9FD-A7E5DB2108A2}" type="pres">
      <dgm:prSet presAssocID="{8138DA17-C2FC-47C3-8CDA-A80C3D9D555E}" presName="composite" presStyleCnt="0"/>
      <dgm:spPr/>
    </dgm:pt>
    <dgm:pt modelId="{2226D4F5-F04D-4BBF-B740-CC9C54F15C4A}" type="pres">
      <dgm:prSet presAssocID="{8138DA17-C2FC-47C3-8CDA-A80C3D9D555E}" presName="imgShp" presStyleLbl="fgImgPlace1" presStyleIdx="1" presStyleCnt="8"/>
      <dgm:spPr/>
    </dgm:pt>
    <dgm:pt modelId="{F8A89013-2B3B-47FE-BE86-0AE897BF0B13}" type="pres">
      <dgm:prSet presAssocID="{8138DA17-C2FC-47C3-8CDA-A80C3D9D555E}" presName="txShp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BC595B4-14F1-4B50-A7FF-3965AC1EEC29}" type="pres">
      <dgm:prSet presAssocID="{F0E8036B-8FED-464D-B3FD-350740B050C4}" presName="spacing" presStyleCnt="0"/>
      <dgm:spPr/>
    </dgm:pt>
    <dgm:pt modelId="{F9044C12-F6BA-4DE0-95DE-A12E59895D35}" type="pres">
      <dgm:prSet presAssocID="{3D7BAC4A-6A46-4781-8F7D-3E4AED9A64D0}" presName="composite" presStyleCnt="0"/>
      <dgm:spPr/>
    </dgm:pt>
    <dgm:pt modelId="{DE9F726A-29FF-4F36-9AAA-14CF2F989379}" type="pres">
      <dgm:prSet presAssocID="{3D7BAC4A-6A46-4781-8F7D-3E4AED9A64D0}" presName="imgShp" presStyleLbl="fgImgPlace1" presStyleIdx="2" presStyleCnt="8"/>
      <dgm:spPr/>
    </dgm:pt>
    <dgm:pt modelId="{038CA520-0A8A-4C52-A817-6F6595CB0AC9}" type="pres">
      <dgm:prSet presAssocID="{3D7BAC4A-6A46-4781-8F7D-3E4AED9A64D0}" presName="txShp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35E29A2-38C9-41BE-85C6-80FF058B1AC3}" type="pres">
      <dgm:prSet presAssocID="{B1C33895-C7A2-46B2-B629-661BF55CA5BF}" presName="spacing" presStyleCnt="0"/>
      <dgm:spPr/>
    </dgm:pt>
    <dgm:pt modelId="{FFA4D523-3B04-4088-9633-8C553C9DC01D}" type="pres">
      <dgm:prSet presAssocID="{9967D488-C414-46BA-B897-2C1941E1C5B5}" presName="composite" presStyleCnt="0"/>
      <dgm:spPr/>
    </dgm:pt>
    <dgm:pt modelId="{12A4567B-B2D9-44EC-945E-DFFAE5B64819}" type="pres">
      <dgm:prSet presAssocID="{9967D488-C414-46BA-B897-2C1941E1C5B5}" presName="imgShp" presStyleLbl="fgImgPlace1" presStyleIdx="3" presStyleCnt="8"/>
      <dgm:spPr/>
    </dgm:pt>
    <dgm:pt modelId="{C81AA066-C567-4362-8185-842F92922897}" type="pres">
      <dgm:prSet presAssocID="{9967D488-C414-46BA-B897-2C1941E1C5B5}" presName="txShp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4A635A0-2CFD-4DEF-9F1D-B08BE83DC479}" type="pres">
      <dgm:prSet presAssocID="{ED47872D-A9A1-4E99-9785-45F564D3B1B7}" presName="spacing" presStyleCnt="0"/>
      <dgm:spPr/>
    </dgm:pt>
    <dgm:pt modelId="{BD375F4A-5060-4F9D-A962-C0F6934317F0}" type="pres">
      <dgm:prSet presAssocID="{0A757AE4-E409-4930-AA4D-C707073A3746}" presName="composite" presStyleCnt="0"/>
      <dgm:spPr/>
    </dgm:pt>
    <dgm:pt modelId="{CC66498E-8294-42FC-B50F-39DDF7618F98}" type="pres">
      <dgm:prSet presAssocID="{0A757AE4-E409-4930-AA4D-C707073A3746}" presName="imgShp" presStyleLbl="fgImgPlace1" presStyleIdx="4" presStyleCnt="8"/>
      <dgm:spPr/>
    </dgm:pt>
    <dgm:pt modelId="{B12AA0E9-6FDD-40A8-AE56-901FE1B2F20E}" type="pres">
      <dgm:prSet presAssocID="{0A757AE4-E409-4930-AA4D-C707073A3746}" presName="txShp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06C430E-B7CE-4E4E-A95D-749E2CC5AEA6}" type="pres">
      <dgm:prSet presAssocID="{E5E7C883-1536-41D1-91F4-107C49F4AB75}" presName="spacing" presStyleCnt="0"/>
      <dgm:spPr/>
    </dgm:pt>
    <dgm:pt modelId="{BF9C8660-78AB-4556-ADBA-3DA07BC8B09F}" type="pres">
      <dgm:prSet presAssocID="{58E53279-8638-46C3-A579-817BB8BF3AA8}" presName="composite" presStyleCnt="0"/>
      <dgm:spPr/>
    </dgm:pt>
    <dgm:pt modelId="{C125B14D-6174-4CB9-9785-86762D6D8931}" type="pres">
      <dgm:prSet presAssocID="{58E53279-8638-46C3-A579-817BB8BF3AA8}" presName="imgShp" presStyleLbl="fgImgPlace1" presStyleIdx="5" presStyleCnt="8"/>
      <dgm:spPr/>
    </dgm:pt>
    <dgm:pt modelId="{E3F9917A-409E-4DBC-9E03-00A3B44EEAE2}" type="pres">
      <dgm:prSet presAssocID="{58E53279-8638-46C3-A579-817BB8BF3AA8}" presName="txShp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BDAD933-4A65-4222-B8D0-F335CB3D6C80}" type="pres">
      <dgm:prSet presAssocID="{30F7FBA8-C836-46F0-AAAD-AA5695BEB366}" presName="spacing" presStyleCnt="0"/>
      <dgm:spPr/>
    </dgm:pt>
    <dgm:pt modelId="{842B4E47-89E2-4FF9-A9BB-242711E6CB3D}" type="pres">
      <dgm:prSet presAssocID="{A8B85346-5743-4D69-AC3B-7147A46A108E}" presName="composite" presStyleCnt="0"/>
      <dgm:spPr/>
    </dgm:pt>
    <dgm:pt modelId="{8AA47B39-573F-4375-A3EE-3CDCE6280DE5}" type="pres">
      <dgm:prSet presAssocID="{A8B85346-5743-4D69-AC3B-7147A46A108E}" presName="imgShp" presStyleLbl="fgImgPlace1" presStyleIdx="6" presStyleCnt="8"/>
      <dgm:spPr/>
    </dgm:pt>
    <dgm:pt modelId="{ADBF2305-2ACD-4A64-AA6A-95D86E23CFC9}" type="pres">
      <dgm:prSet presAssocID="{A8B85346-5743-4D69-AC3B-7147A46A108E}" presName="txShp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4CC2D61-B69A-4C87-B558-01206E6D6459}" type="pres">
      <dgm:prSet presAssocID="{CA21450D-0025-4D3C-BAB1-2F3F284514EE}" presName="spacing" presStyleCnt="0"/>
      <dgm:spPr/>
    </dgm:pt>
    <dgm:pt modelId="{6C3CFB95-D229-4C92-A613-70A8CCE09AED}" type="pres">
      <dgm:prSet presAssocID="{F6C7C620-E72F-4FC6-91C9-2CABF285CE81}" presName="composite" presStyleCnt="0"/>
      <dgm:spPr/>
    </dgm:pt>
    <dgm:pt modelId="{3AFDD7BE-4AF3-4550-92B0-7C843A7EDB9F}" type="pres">
      <dgm:prSet presAssocID="{F6C7C620-E72F-4FC6-91C9-2CABF285CE81}" presName="imgShp" presStyleLbl="fgImgPlace1" presStyleIdx="7" presStyleCnt="8"/>
      <dgm:spPr/>
    </dgm:pt>
    <dgm:pt modelId="{2206A433-324D-4FE5-8EA0-3ADF182DCF60}" type="pres">
      <dgm:prSet presAssocID="{F6C7C620-E72F-4FC6-91C9-2CABF285CE81}" presName="txShp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3390359E-2682-4FEF-9BC7-DBC8966AACF8}" srcId="{6695FC2B-3ACC-442C-B292-D8BABD05496C}" destId="{A8B85346-5743-4D69-AC3B-7147A46A108E}" srcOrd="6" destOrd="0" parTransId="{591E82A4-0B1F-4159-B2BF-FDDB2610D035}" sibTransId="{CA21450D-0025-4D3C-BAB1-2F3F284514EE}"/>
    <dgm:cxn modelId="{10EF71B2-3632-485E-AF0A-6FBE844D3372}" type="presOf" srcId="{58E53279-8638-46C3-A579-817BB8BF3AA8}" destId="{E3F9917A-409E-4DBC-9E03-00A3B44EEAE2}" srcOrd="0" destOrd="0" presId="urn:microsoft.com/office/officeart/2005/8/layout/vList3"/>
    <dgm:cxn modelId="{53D54143-ED03-4D07-8C09-AB048EB3B313}" type="presOf" srcId="{F6C7C620-E72F-4FC6-91C9-2CABF285CE81}" destId="{2206A433-324D-4FE5-8EA0-3ADF182DCF60}" srcOrd="0" destOrd="0" presId="urn:microsoft.com/office/officeart/2005/8/layout/vList3"/>
    <dgm:cxn modelId="{2EFE71F1-81A0-45E2-B187-0C73947B9100}" srcId="{6695FC2B-3ACC-442C-B292-D8BABD05496C}" destId="{0C23BFDB-09EF-4E5A-939C-02B01AA9B52B}" srcOrd="0" destOrd="0" parTransId="{12C6DBCA-F3EE-46F5-AA75-D95E8B67135F}" sibTransId="{DD4F3EA2-393C-412E-8ECA-F7565256E767}"/>
    <dgm:cxn modelId="{0BD131BC-96A0-4226-B62A-5AB0526BE530}" type="presOf" srcId="{A8B85346-5743-4D69-AC3B-7147A46A108E}" destId="{ADBF2305-2ACD-4A64-AA6A-95D86E23CFC9}" srcOrd="0" destOrd="0" presId="urn:microsoft.com/office/officeart/2005/8/layout/vList3"/>
    <dgm:cxn modelId="{AF90C6A7-CA89-45FC-9E98-ACA3BD0438FE}" type="presOf" srcId="{8138DA17-C2FC-47C3-8CDA-A80C3D9D555E}" destId="{F8A89013-2B3B-47FE-BE86-0AE897BF0B13}" srcOrd="0" destOrd="0" presId="urn:microsoft.com/office/officeart/2005/8/layout/vList3"/>
    <dgm:cxn modelId="{33212501-618B-49E7-A933-5889C145A2A4}" srcId="{6695FC2B-3ACC-442C-B292-D8BABD05496C}" destId="{F6C7C620-E72F-4FC6-91C9-2CABF285CE81}" srcOrd="7" destOrd="0" parTransId="{BB8BBAD3-BE1A-403F-B03C-2CC144E5170D}" sibTransId="{7FE3578F-3634-4037-941A-51D6D9DE49C8}"/>
    <dgm:cxn modelId="{8CAB638B-A634-43B7-A6D5-B2F9A713C8F8}" type="presOf" srcId="{0A757AE4-E409-4930-AA4D-C707073A3746}" destId="{B12AA0E9-6FDD-40A8-AE56-901FE1B2F20E}" srcOrd="0" destOrd="0" presId="urn:microsoft.com/office/officeart/2005/8/layout/vList3"/>
    <dgm:cxn modelId="{8689D05C-0B9D-4E48-9E67-E3AD0F4A5BD2}" srcId="{6695FC2B-3ACC-442C-B292-D8BABD05496C}" destId="{58E53279-8638-46C3-A579-817BB8BF3AA8}" srcOrd="5" destOrd="0" parTransId="{5622F54B-7A6F-40C9-BEC5-07239EFBBEE0}" sibTransId="{30F7FBA8-C836-46F0-AAAD-AA5695BEB366}"/>
    <dgm:cxn modelId="{B76DBE61-D7F4-4C69-B77D-CA651488A7D5}" srcId="{6695FC2B-3ACC-442C-B292-D8BABD05496C}" destId="{9967D488-C414-46BA-B897-2C1941E1C5B5}" srcOrd="3" destOrd="0" parTransId="{A73548EB-C475-43AD-8ED9-C0BF2D9A84D8}" sibTransId="{ED47872D-A9A1-4E99-9785-45F564D3B1B7}"/>
    <dgm:cxn modelId="{C4BB1612-0D5F-4870-90B1-1A57B7F50756}" type="presOf" srcId="{6695FC2B-3ACC-442C-B292-D8BABD05496C}" destId="{C03DE1BB-D2B6-4C18-8562-83D165B31997}" srcOrd="0" destOrd="0" presId="urn:microsoft.com/office/officeart/2005/8/layout/vList3"/>
    <dgm:cxn modelId="{77184C1B-B8DF-4BB1-8410-4C1EA45A1EB1}" srcId="{6695FC2B-3ACC-442C-B292-D8BABD05496C}" destId="{3D7BAC4A-6A46-4781-8F7D-3E4AED9A64D0}" srcOrd="2" destOrd="0" parTransId="{66E625D9-B391-41DE-B7B5-A941B80B59A3}" sibTransId="{B1C33895-C7A2-46B2-B629-661BF55CA5BF}"/>
    <dgm:cxn modelId="{0408BA63-3306-4A4D-A57C-170AB0575E8B}" type="presOf" srcId="{0C23BFDB-09EF-4E5A-939C-02B01AA9B52B}" destId="{030C8D21-B3B3-40D7-824E-9FFC3B380C82}" srcOrd="0" destOrd="0" presId="urn:microsoft.com/office/officeart/2005/8/layout/vList3"/>
    <dgm:cxn modelId="{2E729171-8E38-4997-8F71-BE714CE0F39F}" srcId="{6695FC2B-3ACC-442C-B292-D8BABD05496C}" destId="{8138DA17-C2FC-47C3-8CDA-A80C3D9D555E}" srcOrd="1" destOrd="0" parTransId="{015F7CC8-A893-4698-9C8B-303C8570DB57}" sibTransId="{F0E8036B-8FED-464D-B3FD-350740B050C4}"/>
    <dgm:cxn modelId="{A20A4AA0-03CD-4A7C-9B66-20AF92CF62EC}" srcId="{6695FC2B-3ACC-442C-B292-D8BABD05496C}" destId="{0A757AE4-E409-4930-AA4D-C707073A3746}" srcOrd="4" destOrd="0" parTransId="{2EA6B555-E1E8-47E5-9697-BE61FE3E5797}" sibTransId="{E5E7C883-1536-41D1-91F4-107C49F4AB75}"/>
    <dgm:cxn modelId="{1DD63B64-1751-4DB4-8788-12C7185DAE94}" type="presOf" srcId="{3D7BAC4A-6A46-4781-8F7D-3E4AED9A64D0}" destId="{038CA520-0A8A-4C52-A817-6F6595CB0AC9}" srcOrd="0" destOrd="0" presId="urn:microsoft.com/office/officeart/2005/8/layout/vList3"/>
    <dgm:cxn modelId="{74ACE09C-C602-40B8-AD01-0FA10024FA33}" type="presOf" srcId="{9967D488-C414-46BA-B897-2C1941E1C5B5}" destId="{C81AA066-C567-4362-8185-842F92922897}" srcOrd="0" destOrd="0" presId="urn:microsoft.com/office/officeart/2005/8/layout/vList3"/>
    <dgm:cxn modelId="{A6088267-AFCF-4C11-9936-153453559785}" type="presParOf" srcId="{C03DE1BB-D2B6-4C18-8562-83D165B31997}" destId="{B309EA02-2532-40F3-86EF-EBDDC800D1F7}" srcOrd="0" destOrd="0" presId="urn:microsoft.com/office/officeart/2005/8/layout/vList3"/>
    <dgm:cxn modelId="{7086879D-0D1B-47A3-8994-F3C757F71DCB}" type="presParOf" srcId="{B309EA02-2532-40F3-86EF-EBDDC800D1F7}" destId="{E28FBD40-3006-423F-A620-DF144945FD24}" srcOrd="0" destOrd="0" presId="urn:microsoft.com/office/officeart/2005/8/layout/vList3"/>
    <dgm:cxn modelId="{59B783C0-CEDA-4C40-A022-6A2D95E04C4C}" type="presParOf" srcId="{B309EA02-2532-40F3-86EF-EBDDC800D1F7}" destId="{030C8D21-B3B3-40D7-824E-9FFC3B380C82}" srcOrd="1" destOrd="0" presId="urn:microsoft.com/office/officeart/2005/8/layout/vList3"/>
    <dgm:cxn modelId="{713A4391-019B-42A7-BD11-AAD6090B27DA}" type="presParOf" srcId="{C03DE1BB-D2B6-4C18-8562-83D165B31997}" destId="{1A52E71F-4269-4A91-A407-E4FEEAE23C8A}" srcOrd="1" destOrd="0" presId="urn:microsoft.com/office/officeart/2005/8/layout/vList3"/>
    <dgm:cxn modelId="{E28FE8FB-E8A3-4665-AA66-FCDFBBDD2260}" type="presParOf" srcId="{C03DE1BB-D2B6-4C18-8562-83D165B31997}" destId="{B1002351-E69E-425B-B9FD-A7E5DB2108A2}" srcOrd="2" destOrd="0" presId="urn:microsoft.com/office/officeart/2005/8/layout/vList3"/>
    <dgm:cxn modelId="{1A8385D2-C11F-4060-828E-46994AD57507}" type="presParOf" srcId="{B1002351-E69E-425B-B9FD-A7E5DB2108A2}" destId="{2226D4F5-F04D-4BBF-B740-CC9C54F15C4A}" srcOrd="0" destOrd="0" presId="urn:microsoft.com/office/officeart/2005/8/layout/vList3"/>
    <dgm:cxn modelId="{D5E2543B-48D6-40A7-AD05-7026F291A9DC}" type="presParOf" srcId="{B1002351-E69E-425B-B9FD-A7E5DB2108A2}" destId="{F8A89013-2B3B-47FE-BE86-0AE897BF0B13}" srcOrd="1" destOrd="0" presId="urn:microsoft.com/office/officeart/2005/8/layout/vList3"/>
    <dgm:cxn modelId="{95E38DDA-D5D7-49A1-BD31-EBE3A819151E}" type="presParOf" srcId="{C03DE1BB-D2B6-4C18-8562-83D165B31997}" destId="{3BC595B4-14F1-4B50-A7FF-3965AC1EEC29}" srcOrd="3" destOrd="0" presId="urn:microsoft.com/office/officeart/2005/8/layout/vList3"/>
    <dgm:cxn modelId="{30568BF6-8726-4963-8CA8-25E21F4B90E5}" type="presParOf" srcId="{C03DE1BB-D2B6-4C18-8562-83D165B31997}" destId="{F9044C12-F6BA-4DE0-95DE-A12E59895D35}" srcOrd="4" destOrd="0" presId="urn:microsoft.com/office/officeart/2005/8/layout/vList3"/>
    <dgm:cxn modelId="{96AA5270-8629-4458-8CC9-6F9A40BB0A29}" type="presParOf" srcId="{F9044C12-F6BA-4DE0-95DE-A12E59895D35}" destId="{DE9F726A-29FF-4F36-9AAA-14CF2F989379}" srcOrd="0" destOrd="0" presId="urn:microsoft.com/office/officeart/2005/8/layout/vList3"/>
    <dgm:cxn modelId="{D66C2A4C-774A-4158-8824-F4CF8DE71698}" type="presParOf" srcId="{F9044C12-F6BA-4DE0-95DE-A12E59895D35}" destId="{038CA520-0A8A-4C52-A817-6F6595CB0AC9}" srcOrd="1" destOrd="0" presId="urn:microsoft.com/office/officeart/2005/8/layout/vList3"/>
    <dgm:cxn modelId="{22C20C8E-A417-4C81-BFE5-2919A9CCDBCC}" type="presParOf" srcId="{C03DE1BB-D2B6-4C18-8562-83D165B31997}" destId="{935E29A2-38C9-41BE-85C6-80FF058B1AC3}" srcOrd="5" destOrd="0" presId="urn:microsoft.com/office/officeart/2005/8/layout/vList3"/>
    <dgm:cxn modelId="{716C7F53-51F7-42E5-9657-4FEF6F2F33A4}" type="presParOf" srcId="{C03DE1BB-D2B6-4C18-8562-83D165B31997}" destId="{FFA4D523-3B04-4088-9633-8C553C9DC01D}" srcOrd="6" destOrd="0" presId="urn:microsoft.com/office/officeart/2005/8/layout/vList3"/>
    <dgm:cxn modelId="{49D87B94-001B-45F0-8D27-893C48F7D4CE}" type="presParOf" srcId="{FFA4D523-3B04-4088-9633-8C553C9DC01D}" destId="{12A4567B-B2D9-44EC-945E-DFFAE5B64819}" srcOrd="0" destOrd="0" presId="urn:microsoft.com/office/officeart/2005/8/layout/vList3"/>
    <dgm:cxn modelId="{539464E8-F866-4B7D-A936-5D7844A6FC86}" type="presParOf" srcId="{FFA4D523-3B04-4088-9633-8C553C9DC01D}" destId="{C81AA066-C567-4362-8185-842F92922897}" srcOrd="1" destOrd="0" presId="urn:microsoft.com/office/officeart/2005/8/layout/vList3"/>
    <dgm:cxn modelId="{2A928831-B128-431B-8417-AD05324E0C51}" type="presParOf" srcId="{C03DE1BB-D2B6-4C18-8562-83D165B31997}" destId="{54A635A0-2CFD-4DEF-9F1D-B08BE83DC479}" srcOrd="7" destOrd="0" presId="urn:microsoft.com/office/officeart/2005/8/layout/vList3"/>
    <dgm:cxn modelId="{006A2BF6-2368-4D1F-A7CD-30239C96706F}" type="presParOf" srcId="{C03DE1BB-D2B6-4C18-8562-83D165B31997}" destId="{BD375F4A-5060-4F9D-A962-C0F6934317F0}" srcOrd="8" destOrd="0" presId="urn:microsoft.com/office/officeart/2005/8/layout/vList3"/>
    <dgm:cxn modelId="{67AB5FD3-77EF-48CA-B76F-F54D50DFAF59}" type="presParOf" srcId="{BD375F4A-5060-4F9D-A962-C0F6934317F0}" destId="{CC66498E-8294-42FC-B50F-39DDF7618F98}" srcOrd="0" destOrd="0" presId="urn:microsoft.com/office/officeart/2005/8/layout/vList3"/>
    <dgm:cxn modelId="{3E6C089A-2E6A-4797-ABEA-501B9AF4DF0F}" type="presParOf" srcId="{BD375F4A-5060-4F9D-A962-C0F6934317F0}" destId="{B12AA0E9-6FDD-40A8-AE56-901FE1B2F20E}" srcOrd="1" destOrd="0" presId="urn:microsoft.com/office/officeart/2005/8/layout/vList3"/>
    <dgm:cxn modelId="{F3445DE1-5B3A-4279-A18C-8B8D14493C9A}" type="presParOf" srcId="{C03DE1BB-D2B6-4C18-8562-83D165B31997}" destId="{606C430E-B7CE-4E4E-A95D-749E2CC5AEA6}" srcOrd="9" destOrd="0" presId="urn:microsoft.com/office/officeart/2005/8/layout/vList3"/>
    <dgm:cxn modelId="{D127B082-F400-4EE6-8E50-FAD39ED0AB02}" type="presParOf" srcId="{C03DE1BB-D2B6-4C18-8562-83D165B31997}" destId="{BF9C8660-78AB-4556-ADBA-3DA07BC8B09F}" srcOrd="10" destOrd="0" presId="urn:microsoft.com/office/officeart/2005/8/layout/vList3"/>
    <dgm:cxn modelId="{E0E5B381-ED3B-4EB0-BC7A-24FBD064C2EF}" type="presParOf" srcId="{BF9C8660-78AB-4556-ADBA-3DA07BC8B09F}" destId="{C125B14D-6174-4CB9-9785-86762D6D8931}" srcOrd="0" destOrd="0" presId="urn:microsoft.com/office/officeart/2005/8/layout/vList3"/>
    <dgm:cxn modelId="{6398B745-3FD3-496B-8E70-DAC02C39FAC4}" type="presParOf" srcId="{BF9C8660-78AB-4556-ADBA-3DA07BC8B09F}" destId="{E3F9917A-409E-4DBC-9E03-00A3B44EEAE2}" srcOrd="1" destOrd="0" presId="urn:microsoft.com/office/officeart/2005/8/layout/vList3"/>
    <dgm:cxn modelId="{3E3EF623-5C11-49D1-BD81-8BEA378FCB26}" type="presParOf" srcId="{C03DE1BB-D2B6-4C18-8562-83D165B31997}" destId="{ABDAD933-4A65-4222-B8D0-F335CB3D6C80}" srcOrd="11" destOrd="0" presId="urn:microsoft.com/office/officeart/2005/8/layout/vList3"/>
    <dgm:cxn modelId="{03128CAB-D86A-471C-B45A-F67BFFC072FA}" type="presParOf" srcId="{C03DE1BB-D2B6-4C18-8562-83D165B31997}" destId="{842B4E47-89E2-4FF9-A9BB-242711E6CB3D}" srcOrd="12" destOrd="0" presId="urn:microsoft.com/office/officeart/2005/8/layout/vList3"/>
    <dgm:cxn modelId="{F7A13173-C1B0-42F6-87C2-9F3A46E59906}" type="presParOf" srcId="{842B4E47-89E2-4FF9-A9BB-242711E6CB3D}" destId="{8AA47B39-573F-4375-A3EE-3CDCE6280DE5}" srcOrd="0" destOrd="0" presId="urn:microsoft.com/office/officeart/2005/8/layout/vList3"/>
    <dgm:cxn modelId="{677CA342-89F7-4825-B370-549E2640E2BE}" type="presParOf" srcId="{842B4E47-89E2-4FF9-A9BB-242711E6CB3D}" destId="{ADBF2305-2ACD-4A64-AA6A-95D86E23CFC9}" srcOrd="1" destOrd="0" presId="urn:microsoft.com/office/officeart/2005/8/layout/vList3"/>
    <dgm:cxn modelId="{C8E364F6-DB0A-45B8-ABDA-052B00A61948}" type="presParOf" srcId="{C03DE1BB-D2B6-4C18-8562-83D165B31997}" destId="{84CC2D61-B69A-4C87-B558-01206E6D6459}" srcOrd="13" destOrd="0" presId="urn:microsoft.com/office/officeart/2005/8/layout/vList3"/>
    <dgm:cxn modelId="{AA58050B-F70B-45F1-86E9-B1D434A19807}" type="presParOf" srcId="{C03DE1BB-D2B6-4C18-8562-83D165B31997}" destId="{6C3CFB95-D229-4C92-A613-70A8CCE09AED}" srcOrd="14" destOrd="0" presId="urn:microsoft.com/office/officeart/2005/8/layout/vList3"/>
    <dgm:cxn modelId="{649D0A68-9206-4C0C-8035-47A8453C4B3F}" type="presParOf" srcId="{6C3CFB95-D229-4C92-A613-70A8CCE09AED}" destId="{3AFDD7BE-4AF3-4550-92B0-7C843A7EDB9F}" srcOrd="0" destOrd="0" presId="urn:microsoft.com/office/officeart/2005/8/layout/vList3"/>
    <dgm:cxn modelId="{CA93550D-AA8B-4227-83F1-C57FDE65EDCA}" type="presParOf" srcId="{6C3CFB95-D229-4C92-A613-70A8CCE09AED}" destId="{2206A433-324D-4FE5-8EA0-3ADF182DCF6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AD8C457-9EEA-4205-9353-EF5FB1EC75BE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988821-FF19-45AE-9F65-1D1541FC4287}">
      <dgm:prSet custT="1"/>
      <dgm:spPr/>
      <dgm:t>
        <a:bodyPr/>
        <a:lstStyle/>
        <a:p>
          <a:pPr rtl="0"/>
          <a:r>
            <a:rPr lang="en-US" sz="2400" dirty="0" smtClean="0">
              <a:solidFill>
                <a:schemeClr val="bg1"/>
              </a:solidFill>
            </a:rPr>
            <a:t>Core Transformation</a:t>
          </a:r>
          <a:r>
            <a:rPr lang="en-US" sz="2100" dirty="0" smtClean="0">
              <a:solidFill>
                <a:schemeClr val="bg1"/>
              </a:solidFill>
            </a:rPr>
            <a:t>:</a:t>
          </a:r>
          <a:endParaRPr lang="en-IN" sz="2100" dirty="0">
            <a:solidFill>
              <a:schemeClr val="bg1"/>
            </a:solidFill>
          </a:endParaRPr>
        </a:p>
      </dgm:t>
    </dgm:pt>
    <dgm:pt modelId="{31E0A31B-7813-4C5C-9F6F-577D07E36C4F}" type="parTrans" cxnId="{B9058CB3-777E-4F77-9EA2-E054ACFA533A}">
      <dgm:prSet/>
      <dgm:spPr/>
      <dgm:t>
        <a:bodyPr/>
        <a:lstStyle/>
        <a:p>
          <a:endParaRPr lang="en-US"/>
        </a:p>
      </dgm:t>
    </dgm:pt>
    <dgm:pt modelId="{D8C3236F-20AB-41C1-A8EF-718450D31421}" type="sibTrans" cxnId="{B9058CB3-777E-4F77-9EA2-E054ACFA533A}">
      <dgm:prSet/>
      <dgm:spPr/>
      <dgm:t>
        <a:bodyPr/>
        <a:lstStyle/>
        <a:p>
          <a:endParaRPr lang="en-US"/>
        </a:p>
      </dgm:t>
    </dgm:pt>
    <dgm:pt modelId="{D804A4B7-6298-44B8-8D80-270FA80893BA}">
      <dgm:prSet custT="1"/>
      <dgm:spPr/>
      <dgm:t>
        <a:bodyPr/>
        <a:lstStyle/>
        <a:p>
          <a:pPr rtl="0"/>
          <a:r>
            <a:rPr lang="en-US" sz="2800" dirty="0" err="1" smtClean="0">
              <a:solidFill>
                <a:schemeClr val="bg1"/>
              </a:solidFill>
            </a:rPr>
            <a:t>Old:Citizen</a:t>
          </a:r>
          <a:r>
            <a:rPr lang="en-US" sz="2800" dirty="0" smtClean="0">
              <a:solidFill>
                <a:schemeClr val="bg1"/>
              </a:solidFill>
            </a:rPr>
            <a:t> </a:t>
          </a:r>
          <a:r>
            <a:rPr lang="en-US" sz="2800" dirty="0" smtClean="0">
              <a:solidFill>
                <a:schemeClr val="bg1"/>
              </a:solidFill>
            </a:rPr>
            <a:t>→ Form → Officer </a:t>
          </a:r>
          <a:endParaRPr lang="en-IN" sz="2800" dirty="0">
            <a:solidFill>
              <a:schemeClr val="bg1"/>
            </a:solidFill>
          </a:endParaRPr>
        </a:p>
      </dgm:t>
    </dgm:pt>
    <dgm:pt modelId="{3F41864D-63E9-4EC9-B2C3-9EECE1B86988}" type="parTrans" cxnId="{C1DFC107-EE45-44CF-B8D9-6934D25DF506}">
      <dgm:prSet/>
      <dgm:spPr/>
      <dgm:t>
        <a:bodyPr/>
        <a:lstStyle/>
        <a:p>
          <a:endParaRPr lang="en-US"/>
        </a:p>
      </dgm:t>
    </dgm:pt>
    <dgm:pt modelId="{2D04E192-D86F-4E83-A28A-606908C58573}" type="sibTrans" cxnId="{C1DFC107-EE45-44CF-B8D9-6934D25DF506}">
      <dgm:prSet/>
      <dgm:spPr/>
      <dgm:t>
        <a:bodyPr/>
        <a:lstStyle/>
        <a:p>
          <a:endParaRPr lang="en-US"/>
        </a:p>
      </dgm:t>
    </dgm:pt>
    <dgm:pt modelId="{56ED4C72-301D-4DF3-BEC5-14F7430F3F15}">
      <dgm:prSet custT="1"/>
      <dgm:spPr/>
      <dgm:t>
        <a:bodyPr/>
        <a:lstStyle/>
        <a:p>
          <a:pPr rtl="0"/>
          <a:r>
            <a:rPr lang="en-US" sz="2000" dirty="0" smtClean="0">
              <a:solidFill>
                <a:schemeClr val="bg1"/>
              </a:solidFill>
            </a:rPr>
            <a:t>New: Citizen </a:t>
          </a:r>
          <a:r>
            <a:rPr lang="en-US" sz="2000" dirty="0" smtClean="0">
              <a:solidFill>
                <a:schemeClr val="bg1"/>
              </a:solidFill>
            </a:rPr>
            <a:t>→ </a:t>
          </a:r>
          <a:r>
            <a:rPr lang="en-US" sz="2000" dirty="0" err="1" smtClean="0">
              <a:solidFill>
                <a:schemeClr val="bg1"/>
              </a:solidFill>
            </a:rPr>
            <a:t>Sarthi</a:t>
          </a:r>
          <a:r>
            <a:rPr lang="en-US" sz="2000" dirty="0" smtClean="0">
              <a:solidFill>
                <a:schemeClr val="bg1"/>
              </a:solidFill>
            </a:rPr>
            <a:t> AI → Officer (with complete intelligence) </a:t>
          </a:r>
          <a:endParaRPr lang="en-IN" sz="2000" dirty="0">
            <a:solidFill>
              <a:schemeClr val="bg1"/>
            </a:solidFill>
          </a:endParaRPr>
        </a:p>
      </dgm:t>
    </dgm:pt>
    <dgm:pt modelId="{8694459D-CA50-4218-8085-3B449610BF42}" type="parTrans" cxnId="{88233AD9-AD2D-4154-859A-D4A40503C88D}">
      <dgm:prSet/>
      <dgm:spPr/>
      <dgm:t>
        <a:bodyPr/>
        <a:lstStyle/>
        <a:p>
          <a:endParaRPr lang="en-US"/>
        </a:p>
      </dgm:t>
    </dgm:pt>
    <dgm:pt modelId="{4DC0B0BF-86C9-4BC8-8525-7AF0FF79A12A}" type="sibTrans" cxnId="{88233AD9-AD2D-4154-859A-D4A40503C88D}">
      <dgm:prSet/>
      <dgm:spPr/>
      <dgm:t>
        <a:bodyPr/>
        <a:lstStyle/>
        <a:p>
          <a:endParaRPr lang="en-US"/>
        </a:p>
      </dgm:t>
    </dgm:pt>
    <dgm:pt modelId="{89F7D67A-C7E0-42B2-ABDB-3D86B617E34D}" type="pres">
      <dgm:prSet presAssocID="{3AD8C457-9EEA-4205-9353-EF5FB1EC75BE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673E3479-7889-4820-9889-05179F0B9DA7}" type="pres">
      <dgm:prSet presAssocID="{2C988821-FF19-45AE-9F65-1D1541FC4287}" presName="circ1" presStyleLbl="vennNode1" presStyleIdx="0" presStyleCnt="3" custLinFactNeighborX="2333" custLinFactNeighborY="-7926"/>
      <dgm:spPr/>
      <dgm:t>
        <a:bodyPr/>
        <a:lstStyle/>
        <a:p>
          <a:endParaRPr lang="en-IN"/>
        </a:p>
      </dgm:t>
    </dgm:pt>
    <dgm:pt modelId="{C0A46BEA-2489-4C95-8D47-383456437D6D}" type="pres">
      <dgm:prSet presAssocID="{2C988821-FF19-45AE-9F65-1D1541FC4287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8790808-4658-4CC7-8A23-C19DE4089CB4}" type="pres">
      <dgm:prSet presAssocID="{D804A4B7-6298-44B8-8D80-270FA80893BA}" presName="circ2" presStyleLbl="vennNode1" presStyleIdx="1" presStyleCnt="3"/>
      <dgm:spPr/>
      <dgm:t>
        <a:bodyPr/>
        <a:lstStyle/>
        <a:p>
          <a:endParaRPr lang="en-IN"/>
        </a:p>
      </dgm:t>
    </dgm:pt>
    <dgm:pt modelId="{32EF2432-DD63-4E45-8AD5-79FFD5AC3E03}" type="pres">
      <dgm:prSet presAssocID="{D804A4B7-6298-44B8-8D80-270FA80893BA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467E7F6-D727-48F6-A08E-BBAEB04C76BB}" type="pres">
      <dgm:prSet presAssocID="{56ED4C72-301D-4DF3-BEC5-14F7430F3F15}" presName="circ3" presStyleLbl="vennNode1" presStyleIdx="2" presStyleCnt="3"/>
      <dgm:spPr/>
      <dgm:t>
        <a:bodyPr/>
        <a:lstStyle/>
        <a:p>
          <a:endParaRPr lang="en-IN"/>
        </a:p>
      </dgm:t>
    </dgm:pt>
    <dgm:pt modelId="{F97B7ED5-CE9B-4951-8CC1-6C310EABDB2A}" type="pres">
      <dgm:prSet presAssocID="{56ED4C72-301D-4DF3-BEC5-14F7430F3F15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3C6C4FF1-7EFA-4C62-8E20-8CCEC13F3003}" type="presOf" srcId="{D804A4B7-6298-44B8-8D80-270FA80893BA}" destId="{38790808-4658-4CC7-8A23-C19DE4089CB4}" srcOrd="0" destOrd="0" presId="urn:microsoft.com/office/officeart/2005/8/layout/venn1"/>
    <dgm:cxn modelId="{BE6D805E-2553-4DF5-B952-F043995200AE}" type="presOf" srcId="{56ED4C72-301D-4DF3-BEC5-14F7430F3F15}" destId="{3467E7F6-D727-48F6-A08E-BBAEB04C76BB}" srcOrd="0" destOrd="0" presId="urn:microsoft.com/office/officeart/2005/8/layout/venn1"/>
    <dgm:cxn modelId="{E2C71D16-5887-46AB-B594-78D6B883A2AE}" type="presOf" srcId="{56ED4C72-301D-4DF3-BEC5-14F7430F3F15}" destId="{F97B7ED5-CE9B-4951-8CC1-6C310EABDB2A}" srcOrd="1" destOrd="0" presId="urn:microsoft.com/office/officeart/2005/8/layout/venn1"/>
    <dgm:cxn modelId="{C1DFC107-EE45-44CF-B8D9-6934D25DF506}" srcId="{3AD8C457-9EEA-4205-9353-EF5FB1EC75BE}" destId="{D804A4B7-6298-44B8-8D80-270FA80893BA}" srcOrd="1" destOrd="0" parTransId="{3F41864D-63E9-4EC9-B2C3-9EECE1B86988}" sibTransId="{2D04E192-D86F-4E83-A28A-606908C58573}"/>
    <dgm:cxn modelId="{DFEEA5C6-1428-4584-A21E-F9CB5C41EE5D}" type="presOf" srcId="{2C988821-FF19-45AE-9F65-1D1541FC4287}" destId="{673E3479-7889-4820-9889-05179F0B9DA7}" srcOrd="0" destOrd="0" presId="urn:microsoft.com/office/officeart/2005/8/layout/venn1"/>
    <dgm:cxn modelId="{D015181C-9786-469E-8E5B-C66CDBFED97C}" type="presOf" srcId="{3AD8C457-9EEA-4205-9353-EF5FB1EC75BE}" destId="{89F7D67A-C7E0-42B2-ABDB-3D86B617E34D}" srcOrd="0" destOrd="0" presId="urn:microsoft.com/office/officeart/2005/8/layout/venn1"/>
    <dgm:cxn modelId="{88233AD9-AD2D-4154-859A-D4A40503C88D}" srcId="{3AD8C457-9EEA-4205-9353-EF5FB1EC75BE}" destId="{56ED4C72-301D-4DF3-BEC5-14F7430F3F15}" srcOrd="2" destOrd="0" parTransId="{8694459D-CA50-4218-8085-3B449610BF42}" sibTransId="{4DC0B0BF-86C9-4BC8-8525-7AF0FF79A12A}"/>
    <dgm:cxn modelId="{9F2F30E0-E26F-425E-93CB-62D85EB950D5}" type="presOf" srcId="{2C988821-FF19-45AE-9F65-1D1541FC4287}" destId="{C0A46BEA-2489-4C95-8D47-383456437D6D}" srcOrd="1" destOrd="0" presId="urn:microsoft.com/office/officeart/2005/8/layout/venn1"/>
    <dgm:cxn modelId="{38238B70-C08D-4F90-B93C-F326C9E3FF88}" type="presOf" srcId="{D804A4B7-6298-44B8-8D80-270FA80893BA}" destId="{32EF2432-DD63-4E45-8AD5-79FFD5AC3E03}" srcOrd="1" destOrd="0" presId="urn:microsoft.com/office/officeart/2005/8/layout/venn1"/>
    <dgm:cxn modelId="{B9058CB3-777E-4F77-9EA2-E054ACFA533A}" srcId="{3AD8C457-9EEA-4205-9353-EF5FB1EC75BE}" destId="{2C988821-FF19-45AE-9F65-1D1541FC4287}" srcOrd="0" destOrd="0" parTransId="{31E0A31B-7813-4C5C-9F6F-577D07E36C4F}" sibTransId="{D8C3236F-20AB-41C1-A8EF-718450D31421}"/>
    <dgm:cxn modelId="{E75909DE-17B4-4203-A906-6E8C71C18DC0}" type="presParOf" srcId="{89F7D67A-C7E0-42B2-ABDB-3D86B617E34D}" destId="{673E3479-7889-4820-9889-05179F0B9DA7}" srcOrd="0" destOrd="0" presId="urn:microsoft.com/office/officeart/2005/8/layout/venn1"/>
    <dgm:cxn modelId="{13FA5F9B-77B1-42AD-AC05-F59F204C9B8A}" type="presParOf" srcId="{89F7D67A-C7E0-42B2-ABDB-3D86B617E34D}" destId="{C0A46BEA-2489-4C95-8D47-383456437D6D}" srcOrd="1" destOrd="0" presId="urn:microsoft.com/office/officeart/2005/8/layout/venn1"/>
    <dgm:cxn modelId="{A0B643D3-E89C-4EBD-985C-2B7F09C27900}" type="presParOf" srcId="{89F7D67A-C7E0-42B2-ABDB-3D86B617E34D}" destId="{38790808-4658-4CC7-8A23-C19DE4089CB4}" srcOrd="2" destOrd="0" presId="urn:microsoft.com/office/officeart/2005/8/layout/venn1"/>
    <dgm:cxn modelId="{04A6F439-A763-4C96-934C-C3C67D3DD926}" type="presParOf" srcId="{89F7D67A-C7E0-42B2-ABDB-3D86B617E34D}" destId="{32EF2432-DD63-4E45-8AD5-79FFD5AC3E03}" srcOrd="3" destOrd="0" presId="urn:microsoft.com/office/officeart/2005/8/layout/venn1"/>
    <dgm:cxn modelId="{9F8949D5-0913-4923-8554-135EF53F9523}" type="presParOf" srcId="{89F7D67A-C7E0-42B2-ABDB-3D86B617E34D}" destId="{3467E7F6-D727-48F6-A08E-BBAEB04C76BB}" srcOrd="4" destOrd="0" presId="urn:microsoft.com/office/officeart/2005/8/layout/venn1"/>
    <dgm:cxn modelId="{30A14AB3-562A-4FA8-8628-2FA0E4836F27}" type="presParOf" srcId="{89F7D67A-C7E0-42B2-ABDB-3D86B617E34D}" destId="{F97B7ED5-CE9B-4951-8CC1-6C310EABDB2A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EE755C0-E613-4ECD-A4CF-85E7E8E0A33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3BF2562-3A1E-4780-8009-09882C445267}">
      <dgm:prSet/>
      <dgm:spPr/>
      <dgm:t>
        <a:bodyPr/>
        <a:lstStyle/>
        <a:p>
          <a:pPr rtl="0"/>
          <a:r>
            <a:rPr lang="en-IN" smtClean="0"/>
            <a:t>✅ Gemini 1.5 Flash tested on 100+ civic issue descriptions </a:t>
          </a:r>
          <a:endParaRPr lang="en-IN"/>
        </a:p>
      </dgm:t>
    </dgm:pt>
    <dgm:pt modelId="{07804BDA-D333-4C7F-818A-67CCB7483280}" type="parTrans" cxnId="{E3450959-9BDC-40C8-AF39-C6D0C14CDEE9}">
      <dgm:prSet/>
      <dgm:spPr/>
      <dgm:t>
        <a:bodyPr/>
        <a:lstStyle/>
        <a:p>
          <a:endParaRPr lang="en-US"/>
        </a:p>
      </dgm:t>
    </dgm:pt>
    <dgm:pt modelId="{BA4ED3F2-79F5-4FBE-9936-958D692E2716}" type="sibTrans" cxnId="{E3450959-9BDC-40C8-AF39-C6D0C14CDEE9}">
      <dgm:prSet/>
      <dgm:spPr/>
      <dgm:t>
        <a:bodyPr/>
        <a:lstStyle/>
        <a:p>
          <a:endParaRPr lang="en-US"/>
        </a:p>
      </dgm:t>
    </dgm:pt>
    <dgm:pt modelId="{4420599F-3C78-45E3-9B30-CB490ACF4F7D}">
      <dgm:prSet/>
      <dgm:spPr/>
      <dgm:t>
        <a:bodyPr/>
        <a:lstStyle/>
        <a:p>
          <a:pPr rtl="0"/>
          <a:r>
            <a:rPr lang="en-IN" dirty="0" smtClean="0"/>
            <a:t>✅ 94% accuracy on category detection </a:t>
          </a:r>
          <a:endParaRPr lang="en-IN" dirty="0"/>
        </a:p>
      </dgm:t>
    </dgm:pt>
    <dgm:pt modelId="{CAE3246D-BA21-4310-9676-F3F3AEF31654}" type="parTrans" cxnId="{B825F0AB-C986-4286-AA66-F455BADE2060}">
      <dgm:prSet/>
      <dgm:spPr/>
      <dgm:t>
        <a:bodyPr/>
        <a:lstStyle/>
        <a:p>
          <a:endParaRPr lang="en-US"/>
        </a:p>
      </dgm:t>
    </dgm:pt>
    <dgm:pt modelId="{FC7661E3-5D41-4CB2-A5B2-EFDEB9F55255}" type="sibTrans" cxnId="{B825F0AB-C986-4286-AA66-F455BADE2060}">
      <dgm:prSet/>
      <dgm:spPr/>
      <dgm:t>
        <a:bodyPr/>
        <a:lstStyle/>
        <a:p>
          <a:endParaRPr lang="en-US"/>
        </a:p>
      </dgm:t>
    </dgm:pt>
    <dgm:pt modelId="{A7F1A608-A8E0-43E5-96C9-23628FC73206}">
      <dgm:prSet/>
      <dgm:spPr/>
      <dgm:t>
        <a:bodyPr/>
        <a:lstStyle/>
        <a:p>
          <a:pPr rtl="0"/>
          <a:r>
            <a:rPr lang="en-IN" smtClean="0"/>
            <a:t>✅ Duplicate clustering working on real MongoDB data </a:t>
          </a:r>
          <a:endParaRPr lang="en-IN"/>
        </a:p>
      </dgm:t>
    </dgm:pt>
    <dgm:pt modelId="{0C670B96-2809-4847-B06F-7754CF440D6A}" type="parTrans" cxnId="{C59D3E04-2FFE-4738-B7A2-FFAF8DE20A39}">
      <dgm:prSet/>
      <dgm:spPr/>
      <dgm:t>
        <a:bodyPr/>
        <a:lstStyle/>
        <a:p>
          <a:endParaRPr lang="en-US"/>
        </a:p>
      </dgm:t>
    </dgm:pt>
    <dgm:pt modelId="{E50C0667-4A5B-4B0D-8E3F-560E6C76E3B6}" type="sibTrans" cxnId="{C59D3E04-2FFE-4738-B7A2-FFAF8DE20A39}">
      <dgm:prSet/>
      <dgm:spPr/>
      <dgm:t>
        <a:bodyPr/>
        <a:lstStyle/>
        <a:p>
          <a:endParaRPr lang="en-US"/>
        </a:p>
      </dgm:t>
    </dgm:pt>
    <dgm:pt modelId="{A715E6DA-176D-4B43-B8BD-F1BB807373D2}">
      <dgm:prSet/>
      <dgm:spPr/>
      <dgm:t>
        <a:bodyPr/>
        <a:lstStyle/>
        <a:p>
          <a:pPr rtl="0"/>
          <a:r>
            <a:rPr lang="en-IN" smtClean="0"/>
            <a:t>✅ Priority engine tested against real Nagpur civic issues</a:t>
          </a:r>
          <a:endParaRPr lang="en-IN"/>
        </a:p>
      </dgm:t>
    </dgm:pt>
    <dgm:pt modelId="{939679B6-5008-4896-B4C9-8643615DF2F3}" type="parTrans" cxnId="{BE0A9C92-AF26-4013-997D-FC7E30F0E54F}">
      <dgm:prSet/>
      <dgm:spPr/>
      <dgm:t>
        <a:bodyPr/>
        <a:lstStyle/>
        <a:p>
          <a:endParaRPr lang="en-US"/>
        </a:p>
      </dgm:t>
    </dgm:pt>
    <dgm:pt modelId="{B9262CE9-F7BB-42B8-A1C4-FF1606FAFF54}" type="sibTrans" cxnId="{BE0A9C92-AF26-4013-997D-FC7E30F0E54F}">
      <dgm:prSet/>
      <dgm:spPr/>
      <dgm:t>
        <a:bodyPr/>
        <a:lstStyle/>
        <a:p>
          <a:endParaRPr lang="en-US"/>
        </a:p>
      </dgm:t>
    </dgm:pt>
    <dgm:pt modelId="{C083A756-1F32-406F-BBDD-CD8D1E83F05E}">
      <dgm:prSet/>
      <dgm:spPr/>
      <dgm:t>
        <a:bodyPr/>
        <a:lstStyle/>
        <a:p>
          <a:pPr rtl="0"/>
          <a:r>
            <a:rPr lang="en-IN" smtClean="0"/>
            <a:t>✅ Voice-to-JSON pipeline functional </a:t>
          </a:r>
          <a:endParaRPr lang="en-IN"/>
        </a:p>
      </dgm:t>
    </dgm:pt>
    <dgm:pt modelId="{549DFB25-CA87-413D-95B2-DA17DAB04794}" type="parTrans" cxnId="{FEC0210E-3157-4235-A0EE-C5AEBBB9221B}">
      <dgm:prSet/>
      <dgm:spPr/>
      <dgm:t>
        <a:bodyPr/>
        <a:lstStyle/>
        <a:p>
          <a:endParaRPr lang="en-US"/>
        </a:p>
      </dgm:t>
    </dgm:pt>
    <dgm:pt modelId="{81A6C6E8-FA91-476B-8E45-BC939C1A1AA4}" type="sibTrans" cxnId="{FEC0210E-3157-4235-A0EE-C5AEBBB9221B}">
      <dgm:prSet/>
      <dgm:spPr/>
      <dgm:t>
        <a:bodyPr/>
        <a:lstStyle/>
        <a:p>
          <a:endParaRPr lang="en-US"/>
        </a:p>
      </dgm:t>
    </dgm:pt>
    <dgm:pt modelId="{CEB6D2B4-43AD-423C-AAA4-04B59D42077C}" type="pres">
      <dgm:prSet presAssocID="{DEE755C0-E613-4ECD-A4CF-85E7E8E0A330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B1DE36F7-6A0F-464B-9BE8-C30468E5FB3F}" type="pres">
      <dgm:prSet presAssocID="{E3BF2562-3A1E-4780-8009-09882C445267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78E5338-2F95-4998-AAD8-4B30B795C63D}" type="pres">
      <dgm:prSet presAssocID="{BA4ED3F2-79F5-4FBE-9936-958D692E2716}" presName="sibTrans" presStyleLbl="sibTrans2D1" presStyleIdx="0" presStyleCnt="4"/>
      <dgm:spPr/>
      <dgm:t>
        <a:bodyPr/>
        <a:lstStyle/>
        <a:p>
          <a:endParaRPr lang="en-IN"/>
        </a:p>
      </dgm:t>
    </dgm:pt>
    <dgm:pt modelId="{C6FD5628-DE65-460F-A156-BFB591B54775}" type="pres">
      <dgm:prSet presAssocID="{BA4ED3F2-79F5-4FBE-9936-958D692E2716}" presName="connectorText" presStyleLbl="sibTrans2D1" presStyleIdx="0" presStyleCnt="4"/>
      <dgm:spPr/>
      <dgm:t>
        <a:bodyPr/>
        <a:lstStyle/>
        <a:p>
          <a:endParaRPr lang="en-IN"/>
        </a:p>
      </dgm:t>
    </dgm:pt>
    <dgm:pt modelId="{D8ACF14B-550E-4C82-90E1-1DD181E383D4}" type="pres">
      <dgm:prSet presAssocID="{4420599F-3C78-45E3-9B30-CB490ACF4F7D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32F69A4-5A88-46E9-AA8B-C91AE93BDCAF}" type="pres">
      <dgm:prSet presAssocID="{FC7661E3-5D41-4CB2-A5B2-EFDEB9F55255}" presName="sibTrans" presStyleLbl="sibTrans2D1" presStyleIdx="1" presStyleCnt="4"/>
      <dgm:spPr/>
      <dgm:t>
        <a:bodyPr/>
        <a:lstStyle/>
        <a:p>
          <a:endParaRPr lang="en-IN"/>
        </a:p>
      </dgm:t>
    </dgm:pt>
    <dgm:pt modelId="{768098DE-CF85-45F6-BF12-169DBE958C55}" type="pres">
      <dgm:prSet presAssocID="{FC7661E3-5D41-4CB2-A5B2-EFDEB9F55255}" presName="connectorText" presStyleLbl="sibTrans2D1" presStyleIdx="1" presStyleCnt="4"/>
      <dgm:spPr/>
      <dgm:t>
        <a:bodyPr/>
        <a:lstStyle/>
        <a:p>
          <a:endParaRPr lang="en-IN"/>
        </a:p>
      </dgm:t>
    </dgm:pt>
    <dgm:pt modelId="{149E5F9E-F22A-4B7E-BB5A-54FB41E8996A}" type="pres">
      <dgm:prSet presAssocID="{A7F1A608-A8E0-43E5-96C9-23628FC73206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68C9114-6511-4BC9-B3A4-715CBA990F97}" type="pres">
      <dgm:prSet presAssocID="{E50C0667-4A5B-4B0D-8E3F-560E6C76E3B6}" presName="sibTrans" presStyleLbl="sibTrans2D1" presStyleIdx="2" presStyleCnt="4"/>
      <dgm:spPr/>
      <dgm:t>
        <a:bodyPr/>
        <a:lstStyle/>
        <a:p>
          <a:endParaRPr lang="en-IN"/>
        </a:p>
      </dgm:t>
    </dgm:pt>
    <dgm:pt modelId="{EAF2C09A-1817-46C4-BB5D-E3D87B921EC5}" type="pres">
      <dgm:prSet presAssocID="{E50C0667-4A5B-4B0D-8E3F-560E6C76E3B6}" presName="connectorText" presStyleLbl="sibTrans2D1" presStyleIdx="2" presStyleCnt="4"/>
      <dgm:spPr/>
      <dgm:t>
        <a:bodyPr/>
        <a:lstStyle/>
        <a:p>
          <a:endParaRPr lang="en-IN"/>
        </a:p>
      </dgm:t>
    </dgm:pt>
    <dgm:pt modelId="{6CA5759E-B358-453B-970B-8385B59404A5}" type="pres">
      <dgm:prSet presAssocID="{A715E6DA-176D-4B43-B8BD-F1BB807373D2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54862B4-8DBF-4F65-84AA-116CA756EE55}" type="pres">
      <dgm:prSet presAssocID="{B9262CE9-F7BB-42B8-A1C4-FF1606FAFF54}" presName="sibTrans" presStyleLbl="sibTrans2D1" presStyleIdx="3" presStyleCnt="4"/>
      <dgm:spPr/>
      <dgm:t>
        <a:bodyPr/>
        <a:lstStyle/>
        <a:p>
          <a:endParaRPr lang="en-IN"/>
        </a:p>
      </dgm:t>
    </dgm:pt>
    <dgm:pt modelId="{7FB3516C-6A70-45E1-84D5-CBD1EA382937}" type="pres">
      <dgm:prSet presAssocID="{B9262CE9-F7BB-42B8-A1C4-FF1606FAFF54}" presName="connectorText" presStyleLbl="sibTrans2D1" presStyleIdx="3" presStyleCnt="4"/>
      <dgm:spPr/>
      <dgm:t>
        <a:bodyPr/>
        <a:lstStyle/>
        <a:p>
          <a:endParaRPr lang="en-IN"/>
        </a:p>
      </dgm:t>
    </dgm:pt>
    <dgm:pt modelId="{21D6D9E4-5CB0-4800-B98E-3E34A1633941}" type="pres">
      <dgm:prSet presAssocID="{C083A756-1F32-406F-BBDD-CD8D1E83F05E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B825F0AB-C986-4286-AA66-F455BADE2060}" srcId="{DEE755C0-E613-4ECD-A4CF-85E7E8E0A330}" destId="{4420599F-3C78-45E3-9B30-CB490ACF4F7D}" srcOrd="1" destOrd="0" parTransId="{CAE3246D-BA21-4310-9676-F3F3AEF31654}" sibTransId="{FC7661E3-5D41-4CB2-A5B2-EFDEB9F55255}"/>
    <dgm:cxn modelId="{9B472962-F1B5-486C-B245-9F03BDDBAB30}" type="presOf" srcId="{C083A756-1F32-406F-BBDD-CD8D1E83F05E}" destId="{21D6D9E4-5CB0-4800-B98E-3E34A1633941}" srcOrd="0" destOrd="0" presId="urn:microsoft.com/office/officeart/2005/8/layout/process1"/>
    <dgm:cxn modelId="{1A1B3A07-3C8B-4999-9F97-6FF2D3E9454A}" type="presOf" srcId="{B9262CE9-F7BB-42B8-A1C4-FF1606FAFF54}" destId="{7FB3516C-6A70-45E1-84D5-CBD1EA382937}" srcOrd="1" destOrd="0" presId="urn:microsoft.com/office/officeart/2005/8/layout/process1"/>
    <dgm:cxn modelId="{899A1D1D-E978-46D6-8854-B081CDBD2852}" type="presOf" srcId="{A7F1A608-A8E0-43E5-96C9-23628FC73206}" destId="{149E5F9E-F22A-4B7E-BB5A-54FB41E8996A}" srcOrd="0" destOrd="0" presId="urn:microsoft.com/office/officeart/2005/8/layout/process1"/>
    <dgm:cxn modelId="{C59D3E04-2FFE-4738-B7A2-FFAF8DE20A39}" srcId="{DEE755C0-E613-4ECD-A4CF-85E7E8E0A330}" destId="{A7F1A608-A8E0-43E5-96C9-23628FC73206}" srcOrd="2" destOrd="0" parTransId="{0C670B96-2809-4847-B06F-7754CF440D6A}" sibTransId="{E50C0667-4A5B-4B0D-8E3F-560E6C76E3B6}"/>
    <dgm:cxn modelId="{930CD941-0481-4E62-9F22-0E0958543FEC}" type="presOf" srcId="{A715E6DA-176D-4B43-B8BD-F1BB807373D2}" destId="{6CA5759E-B358-453B-970B-8385B59404A5}" srcOrd="0" destOrd="0" presId="urn:microsoft.com/office/officeart/2005/8/layout/process1"/>
    <dgm:cxn modelId="{904D6A7C-D372-4ADB-BB8F-3FE0917C2BBA}" type="presOf" srcId="{BA4ED3F2-79F5-4FBE-9936-958D692E2716}" destId="{778E5338-2F95-4998-AAD8-4B30B795C63D}" srcOrd="0" destOrd="0" presId="urn:microsoft.com/office/officeart/2005/8/layout/process1"/>
    <dgm:cxn modelId="{FEC0210E-3157-4235-A0EE-C5AEBBB9221B}" srcId="{DEE755C0-E613-4ECD-A4CF-85E7E8E0A330}" destId="{C083A756-1F32-406F-BBDD-CD8D1E83F05E}" srcOrd="4" destOrd="0" parTransId="{549DFB25-CA87-413D-95B2-DA17DAB04794}" sibTransId="{81A6C6E8-FA91-476B-8E45-BC939C1A1AA4}"/>
    <dgm:cxn modelId="{334B32E2-DA29-4C28-9E2C-62E85E7D23C7}" type="presOf" srcId="{FC7661E3-5D41-4CB2-A5B2-EFDEB9F55255}" destId="{432F69A4-5A88-46E9-AA8B-C91AE93BDCAF}" srcOrd="0" destOrd="0" presId="urn:microsoft.com/office/officeart/2005/8/layout/process1"/>
    <dgm:cxn modelId="{09ABD90F-FEB2-426F-8C69-C363EA29440A}" type="presOf" srcId="{FC7661E3-5D41-4CB2-A5B2-EFDEB9F55255}" destId="{768098DE-CF85-45F6-BF12-169DBE958C55}" srcOrd="1" destOrd="0" presId="urn:microsoft.com/office/officeart/2005/8/layout/process1"/>
    <dgm:cxn modelId="{05517062-8000-4D49-ABAE-0ACD40C830BA}" type="presOf" srcId="{E50C0667-4A5B-4B0D-8E3F-560E6C76E3B6}" destId="{EAF2C09A-1817-46C4-BB5D-E3D87B921EC5}" srcOrd="1" destOrd="0" presId="urn:microsoft.com/office/officeart/2005/8/layout/process1"/>
    <dgm:cxn modelId="{EF2679E3-CCCE-42F4-A92B-3E00912AA294}" type="presOf" srcId="{DEE755C0-E613-4ECD-A4CF-85E7E8E0A330}" destId="{CEB6D2B4-43AD-423C-AAA4-04B59D42077C}" srcOrd="0" destOrd="0" presId="urn:microsoft.com/office/officeart/2005/8/layout/process1"/>
    <dgm:cxn modelId="{BE0A9C92-AF26-4013-997D-FC7E30F0E54F}" srcId="{DEE755C0-E613-4ECD-A4CF-85E7E8E0A330}" destId="{A715E6DA-176D-4B43-B8BD-F1BB807373D2}" srcOrd="3" destOrd="0" parTransId="{939679B6-5008-4896-B4C9-8643615DF2F3}" sibTransId="{B9262CE9-F7BB-42B8-A1C4-FF1606FAFF54}"/>
    <dgm:cxn modelId="{1AB7AF1F-E3CA-4C73-A1E6-61DCCB3A9BA4}" type="presOf" srcId="{E3BF2562-3A1E-4780-8009-09882C445267}" destId="{B1DE36F7-6A0F-464B-9BE8-C30468E5FB3F}" srcOrd="0" destOrd="0" presId="urn:microsoft.com/office/officeart/2005/8/layout/process1"/>
    <dgm:cxn modelId="{2015C3D1-CDBE-44B6-9836-C1BA1417F378}" type="presOf" srcId="{B9262CE9-F7BB-42B8-A1C4-FF1606FAFF54}" destId="{C54862B4-8DBF-4F65-84AA-116CA756EE55}" srcOrd="0" destOrd="0" presId="urn:microsoft.com/office/officeart/2005/8/layout/process1"/>
    <dgm:cxn modelId="{E3450959-9BDC-40C8-AF39-C6D0C14CDEE9}" srcId="{DEE755C0-E613-4ECD-A4CF-85E7E8E0A330}" destId="{E3BF2562-3A1E-4780-8009-09882C445267}" srcOrd="0" destOrd="0" parTransId="{07804BDA-D333-4C7F-818A-67CCB7483280}" sibTransId="{BA4ED3F2-79F5-4FBE-9936-958D692E2716}"/>
    <dgm:cxn modelId="{3D7D663B-22D1-44AD-8F2F-920D6483381E}" type="presOf" srcId="{E50C0667-4A5B-4B0D-8E3F-560E6C76E3B6}" destId="{D68C9114-6511-4BC9-B3A4-715CBA990F97}" srcOrd="0" destOrd="0" presId="urn:microsoft.com/office/officeart/2005/8/layout/process1"/>
    <dgm:cxn modelId="{9A7AF398-4DD6-4CDD-99C1-9771C91C257E}" type="presOf" srcId="{4420599F-3C78-45E3-9B30-CB490ACF4F7D}" destId="{D8ACF14B-550E-4C82-90E1-1DD181E383D4}" srcOrd="0" destOrd="0" presId="urn:microsoft.com/office/officeart/2005/8/layout/process1"/>
    <dgm:cxn modelId="{2BDB8E33-A854-4998-9AA1-04D888D34D25}" type="presOf" srcId="{BA4ED3F2-79F5-4FBE-9936-958D692E2716}" destId="{C6FD5628-DE65-460F-A156-BFB591B54775}" srcOrd="1" destOrd="0" presId="urn:microsoft.com/office/officeart/2005/8/layout/process1"/>
    <dgm:cxn modelId="{F9A5C6C6-C49F-4BF0-B564-9375A37E13BB}" type="presParOf" srcId="{CEB6D2B4-43AD-423C-AAA4-04B59D42077C}" destId="{B1DE36F7-6A0F-464B-9BE8-C30468E5FB3F}" srcOrd="0" destOrd="0" presId="urn:microsoft.com/office/officeart/2005/8/layout/process1"/>
    <dgm:cxn modelId="{A0733DF5-7876-4A3D-A373-FD4EE79CAB24}" type="presParOf" srcId="{CEB6D2B4-43AD-423C-AAA4-04B59D42077C}" destId="{778E5338-2F95-4998-AAD8-4B30B795C63D}" srcOrd="1" destOrd="0" presId="urn:microsoft.com/office/officeart/2005/8/layout/process1"/>
    <dgm:cxn modelId="{95C37CEA-1514-4CDF-B0F4-CE2CC9E488F3}" type="presParOf" srcId="{778E5338-2F95-4998-AAD8-4B30B795C63D}" destId="{C6FD5628-DE65-460F-A156-BFB591B54775}" srcOrd="0" destOrd="0" presId="urn:microsoft.com/office/officeart/2005/8/layout/process1"/>
    <dgm:cxn modelId="{8EE005DB-5AF7-4886-B1AF-F0FC1C17B16F}" type="presParOf" srcId="{CEB6D2B4-43AD-423C-AAA4-04B59D42077C}" destId="{D8ACF14B-550E-4C82-90E1-1DD181E383D4}" srcOrd="2" destOrd="0" presId="urn:microsoft.com/office/officeart/2005/8/layout/process1"/>
    <dgm:cxn modelId="{891EB65F-0EEA-4D95-AB4D-728B43AF5326}" type="presParOf" srcId="{CEB6D2B4-43AD-423C-AAA4-04B59D42077C}" destId="{432F69A4-5A88-46E9-AA8B-C91AE93BDCAF}" srcOrd="3" destOrd="0" presId="urn:microsoft.com/office/officeart/2005/8/layout/process1"/>
    <dgm:cxn modelId="{5A403653-EE9E-4383-A89F-02F5140C6F1D}" type="presParOf" srcId="{432F69A4-5A88-46E9-AA8B-C91AE93BDCAF}" destId="{768098DE-CF85-45F6-BF12-169DBE958C55}" srcOrd="0" destOrd="0" presId="urn:microsoft.com/office/officeart/2005/8/layout/process1"/>
    <dgm:cxn modelId="{D886D9E1-E423-4B36-A21A-EA877BAC207F}" type="presParOf" srcId="{CEB6D2B4-43AD-423C-AAA4-04B59D42077C}" destId="{149E5F9E-F22A-4B7E-BB5A-54FB41E8996A}" srcOrd="4" destOrd="0" presId="urn:microsoft.com/office/officeart/2005/8/layout/process1"/>
    <dgm:cxn modelId="{23F89588-DE9C-44FB-9B42-6B8489688997}" type="presParOf" srcId="{CEB6D2B4-43AD-423C-AAA4-04B59D42077C}" destId="{D68C9114-6511-4BC9-B3A4-715CBA990F97}" srcOrd="5" destOrd="0" presId="urn:microsoft.com/office/officeart/2005/8/layout/process1"/>
    <dgm:cxn modelId="{4272E4D7-C299-47D3-8A47-0BF2931CC16D}" type="presParOf" srcId="{D68C9114-6511-4BC9-B3A4-715CBA990F97}" destId="{EAF2C09A-1817-46C4-BB5D-E3D87B921EC5}" srcOrd="0" destOrd="0" presId="urn:microsoft.com/office/officeart/2005/8/layout/process1"/>
    <dgm:cxn modelId="{23796BF7-CABA-4455-A159-5D36C8A26D98}" type="presParOf" srcId="{CEB6D2B4-43AD-423C-AAA4-04B59D42077C}" destId="{6CA5759E-B358-453B-970B-8385B59404A5}" srcOrd="6" destOrd="0" presId="urn:microsoft.com/office/officeart/2005/8/layout/process1"/>
    <dgm:cxn modelId="{3BABA7EA-3125-4209-9C4F-0C43E7E5B603}" type="presParOf" srcId="{CEB6D2B4-43AD-423C-AAA4-04B59D42077C}" destId="{C54862B4-8DBF-4F65-84AA-116CA756EE55}" srcOrd="7" destOrd="0" presId="urn:microsoft.com/office/officeart/2005/8/layout/process1"/>
    <dgm:cxn modelId="{6CFC4CB6-C680-4677-B3DD-AA555B808134}" type="presParOf" srcId="{C54862B4-8DBF-4F65-84AA-116CA756EE55}" destId="{7FB3516C-6A70-45E1-84D5-CBD1EA382937}" srcOrd="0" destOrd="0" presId="urn:microsoft.com/office/officeart/2005/8/layout/process1"/>
    <dgm:cxn modelId="{14F61CAE-303C-4A96-8824-CD8B88DFAFE5}" type="presParOf" srcId="{CEB6D2B4-43AD-423C-AAA4-04B59D42077C}" destId="{21D6D9E4-5CB0-4800-B98E-3E34A1633941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C79B7-D37E-440E-BF8A-175C21911DC0}">
      <dsp:nvSpPr>
        <dsp:cNvPr id="0" name=""/>
        <dsp:cNvSpPr/>
      </dsp:nvSpPr>
      <dsp:spPr>
        <a:xfrm>
          <a:off x="0" y="0"/>
          <a:ext cx="1990216" cy="199021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9232B-6799-463F-8AB2-B091507D19EE}">
      <dsp:nvSpPr>
        <dsp:cNvPr id="0" name=""/>
        <dsp:cNvSpPr/>
      </dsp:nvSpPr>
      <dsp:spPr>
        <a:xfrm>
          <a:off x="995107" y="0"/>
          <a:ext cx="16226092" cy="199021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1" kern="1200" dirty="0" smtClean="0"/>
            <a:t>Problem Definition: </a:t>
          </a:r>
          <a:r>
            <a:rPr lang="en-US" sz="3600" kern="1200" dirty="0" smtClean="0"/>
            <a:t>Citizens need government action. Governments need prioritized, actionable intelligence. </a:t>
          </a:r>
          <a:endParaRPr lang="en-IN" sz="3600" kern="1200" dirty="0"/>
        </a:p>
      </dsp:txBody>
      <dsp:txXfrm>
        <a:off x="995107" y="0"/>
        <a:ext cx="16226092" cy="945352"/>
      </dsp:txXfrm>
    </dsp:sp>
    <dsp:sp modelId="{94826F78-CCCB-4D48-BAD8-BCA71E560226}">
      <dsp:nvSpPr>
        <dsp:cNvPr id="0" name=""/>
        <dsp:cNvSpPr/>
      </dsp:nvSpPr>
      <dsp:spPr>
        <a:xfrm>
          <a:off x="522431" y="945352"/>
          <a:ext cx="945352" cy="94535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6C4FE6-0320-4076-8D1D-31AA705C88FF}">
      <dsp:nvSpPr>
        <dsp:cNvPr id="0" name=""/>
        <dsp:cNvSpPr/>
      </dsp:nvSpPr>
      <dsp:spPr>
        <a:xfrm>
          <a:off x="940426" y="1083790"/>
          <a:ext cx="16226092" cy="90375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Today: Citizen → Manual Form → Officer Inbox → (Often Lost).</a:t>
          </a:r>
          <a:endParaRPr lang="en-IN" sz="3600" kern="1200" dirty="0"/>
        </a:p>
      </dsp:txBody>
      <dsp:txXfrm>
        <a:off x="940426" y="1083790"/>
        <a:ext cx="16226092" cy="9037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8ED8AB-434F-4F93-A946-FA608654AF44}">
      <dsp:nvSpPr>
        <dsp:cNvPr id="0" name=""/>
        <dsp:cNvSpPr/>
      </dsp:nvSpPr>
      <dsp:spPr>
        <a:xfrm>
          <a:off x="0" y="0"/>
          <a:ext cx="1581329" cy="158132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81ACFD-1A7E-418F-B7A7-6A32C52003D7}">
      <dsp:nvSpPr>
        <dsp:cNvPr id="0" name=""/>
        <dsp:cNvSpPr/>
      </dsp:nvSpPr>
      <dsp:spPr>
        <a:xfrm>
          <a:off x="790664" y="0"/>
          <a:ext cx="16659135" cy="15813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1" kern="1200" dirty="0" smtClean="0"/>
            <a:t>Impact: </a:t>
          </a:r>
          <a:r>
            <a:rPr lang="en-US" sz="3100" kern="1200" dirty="0" smtClean="0"/>
            <a:t>Critical issues (open manhole near school) treated same as minor </a:t>
          </a:r>
          <a:r>
            <a:rPr lang="en-US" sz="3100" kern="1200" dirty="0" err="1" smtClean="0"/>
            <a:t>potholes.Actual</a:t>
          </a:r>
          <a:r>
            <a:rPr lang="en-US" sz="3100" kern="1200" dirty="0" smtClean="0"/>
            <a:t> problem severity unknown Government resources misallocated Citizens frustrated, less likely to report next time.</a:t>
          </a:r>
          <a:endParaRPr lang="en-IN" sz="3100" kern="1200" dirty="0"/>
        </a:p>
      </dsp:txBody>
      <dsp:txXfrm>
        <a:off x="790664" y="0"/>
        <a:ext cx="16659135" cy="15813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3C781-60CA-4F30-AC6C-CED20B448B77}">
      <dsp:nvSpPr>
        <dsp:cNvPr id="0" name=""/>
        <dsp:cNvSpPr/>
      </dsp:nvSpPr>
      <dsp:spPr>
        <a:xfrm>
          <a:off x="0" y="0"/>
          <a:ext cx="2636403" cy="263640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956456-8A15-4BFD-85B3-66666E3C73A8}">
      <dsp:nvSpPr>
        <dsp:cNvPr id="0" name=""/>
        <dsp:cNvSpPr/>
      </dsp:nvSpPr>
      <dsp:spPr>
        <a:xfrm>
          <a:off x="1187666" y="0"/>
          <a:ext cx="16195367" cy="263640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smtClean="0"/>
            <a:t>Current Pain Points</a:t>
          </a:r>
          <a:r>
            <a:rPr lang="en-US" sz="3200" b="1" kern="1200" dirty="0" smtClean="0"/>
            <a:t>:</a:t>
          </a:r>
          <a:r>
            <a:rPr lang="en-US" sz="3200" kern="1200" dirty="0" smtClean="0"/>
            <a:t> Citizens waste time filling complex forms Similar issues reported 50+ times (no duplication)  no intelligent prioritization → Everything seems equally urgent no location clustering → Department confusion Officers spend 70% of time reading, organizing, deciding Regional languages not supported Zero analytics → Civic intelligence invisible</a:t>
          </a:r>
          <a:endParaRPr lang="en-IN" sz="3200" b="1" kern="1200" dirty="0"/>
        </a:p>
      </dsp:txBody>
      <dsp:txXfrm>
        <a:off x="1187666" y="0"/>
        <a:ext cx="16195367" cy="26364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0C8D21-B3B3-40D7-824E-9FFC3B380C82}">
      <dsp:nvSpPr>
        <dsp:cNvPr id="0" name=""/>
        <dsp:cNvSpPr/>
      </dsp:nvSpPr>
      <dsp:spPr>
        <a:xfrm rot="10800000">
          <a:off x="1709341" y="1295"/>
          <a:ext cx="6131433" cy="6598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68" tIns="114300" rIns="213360" bIns="114300" numCol="1" spcCol="1270" anchor="ctr" anchorCtr="0">
          <a:noAutofit/>
        </a:bodyPr>
        <a:lstStyle/>
        <a:p>
          <a:pPr lvl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000" b="1" kern="1200" dirty="0" smtClean="0"/>
            <a:t>What's Missing Everywhere:</a:t>
          </a:r>
          <a:endParaRPr lang="en-IN" sz="3000" kern="1200" dirty="0"/>
        </a:p>
      </dsp:txBody>
      <dsp:txXfrm rot="10800000">
        <a:off x="1874299" y="1295"/>
        <a:ext cx="5966475" cy="659831"/>
      </dsp:txXfrm>
    </dsp:sp>
    <dsp:sp modelId="{E28FBD40-3006-423F-A620-DF144945FD24}">
      <dsp:nvSpPr>
        <dsp:cNvPr id="0" name=""/>
        <dsp:cNvSpPr/>
      </dsp:nvSpPr>
      <dsp:spPr>
        <a:xfrm>
          <a:off x="1379425" y="1295"/>
          <a:ext cx="659831" cy="6598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A89013-2B3B-47FE-BE86-0AE897BF0B13}">
      <dsp:nvSpPr>
        <dsp:cNvPr id="0" name=""/>
        <dsp:cNvSpPr/>
      </dsp:nvSpPr>
      <dsp:spPr>
        <a:xfrm rot="10800000">
          <a:off x="1709341" y="858092"/>
          <a:ext cx="6131433" cy="6598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68" tIns="91440" rIns="170688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smtClean="0"/>
            <a:t>❌ No AI to understand natural language</a:t>
          </a:r>
          <a:endParaRPr lang="en-IN" sz="2400" kern="1200" dirty="0"/>
        </a:p>
      </dsp:txBody>
      <dsp:txXfrm rot="10800000">
        <a:off x="1874299" y="858092"/>
        <a:ext cx="5966475" cy="659831"/>
      </dsp:txXfrm>
    </dsp:sp>
    <dsp:sp modelId="{2226D4F5-F04D-4BBF-B740-CC9C54F15C4A}">
      <dsp:nvSpPr>
        <dsp:cNvPr id="0" name=""/>
        <dsp:cNvSpPr/>
      </dsp:nvSpPr>
      <dsp:spPr>
        <a:xfrm>
          <a:off x="1379425" y="858092"/>
          <a:ext cx="659831" cy="6598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8CA520-0A8A-4C52-A817-6F6595CB0AC9}">
      <dsp:nvSpPr>
        <dsp:cNvPr id="0" name=""/>
        <dsp:cNvSpPr/>
      </dsp:nvSpPr>
      <dsp:spPr>
        <a:xfrm rot="10800000">
          <a:off x="1709341" y="1714888"/>
          <a:ext cx="6131433" cy="6598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68" tIns="91440" rIns="170688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smtClean="0"/>
            <a:t>❌ No duplicate detection → Same issue reported 50 times </a:t>
          </a:r>
          <a:endParaRPr lang="en-IN" sz="2400" kern="1200" dirty="0"/>
        </a:p>
      </dsp:txBody>
      <dsp:txXfrm rot="10800000">
        <a:off x="1874299" y="1714888"/>
        <a:ext cx="5966475" cy="659831"/>
      </dsp:txXfrm>
    </dsp:sp>
    <dsp:sp modelId="{DE9F726A-29FF-4F36-9AAA-14CF2F989379}">
      <dsp:nvSpPr>
        <dsp:cNvPr id="0" name=""/>
        <dsp:cNvSpPr/>
      </dsp:nvSpPr>
      <dsp:spPr>
        <a:xfrm>
          <a:off x="1379425" y="1714888"/>
          <a:ext cx="659831" cy="6598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1AA066-C567-4362-8185-842F92922897}">
      <dsp:nvSpPr>
        <dsp:cNvPr id="0" name=""/>
        <dsp:cNvSpPr/>
      </dsp:nvSpPr>
      <dsp:spPr>
        <a:xfrm rot="10800000">
          <a:off x="1709341" y="2571685"/>
          <a:ext cx="6131433" cy="6598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68" tIns="91440" rIns="170688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smtClean="0"/>
            <a:t>❌ No intelligent routing → Wrong department assigned</a:t>
          </a:r>
          <a:endParaRPr lang="en-IN" sz="2400" kern="1200" dirty="0"/>
        </a:p>
      </dsp:txBody>
      <dsp:txXfrm rot="10800000">
        <a:off x="1874299" y="2571685"/>
        <a:ext cx="5966475" cy="659831"/>
      </dsp:txXfrm>
    </dsp:sp>
    <dsp:sp modelId="{12A4567B-B2D9-44EC-945E-DFFAE5B64819}">
      <dsp:nvSpPr>
        <dsp:cNvPr id="0" name=""/>
        <dsp:cNvSpPr/>
      </dsp:nvSpPr>
      <dsp:spPr>
        <a:xfrm>
          <a:off x="1379425" y="2571685"/>
          <a:ext cx="659831" cy="6598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AA0E9-6FDD-40A8-AE56-901FE1B2F20E}">
      <dsp:nvSpPr>
        <dsp:cNvPr id="0" name=""/>
        <dsp:cNvSpPr/>
      </dsp:nvSpPr>
      <dsp:spPr>
        <a:xfrm rot="10800000">
          <a:off x="1709341" y="3428481"/>
          <a:ext cx="6131433" cy="6598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68" tIns="91440" rIns="170688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smtClean="0"/>
            <a:t>❌ No priority system → All issues treated equally </a:t>
          </a:r>
          <a:endParaRPr lang="en-IN" sz="2400" kern="1200" dirty="0"/>
        </a:p>
      </dsp:txBody>
      <dsp:txXfrm rot="10800000">
        <a:off x="1874299" y="3428481"/>
        <a:ext cx="5966475" cy="659831"/>
      </dsp:txXfrm>
    </dsp:sp>
    <dsp:sp modelId="{CC66498E-8294-42FC-B50F-39DDF7618F98}">
      <dsp:nvSpPr>
        <dsp:cNvPr id="0" name=""/>
        <dsp:cNvSpPr/>
      </dsp:nvSpPr>
      <dsp:spPr>
        <a:xfrm>
          <a:off x="1379425" y="3428481"/>
          <a:ext cx="659831" cy="6598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F9917A-409E-4DBC-9E03-00A3B44EEAE2}">
      <dsp:nvSpPr>
        <dsp:cNvPr id="0" name=""/>
        <dsp:cNvSpPr/>
      </dsp:nvSpPr>
      <dsp:spPr>
        <a:xfrm rot="10800000">
          <a:off x="1709341" y="4285278"/>
          <a:ext cx="6131433" cy="6598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68" tIns="91440" rIns="170688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smtClean="0"/>
            <a:t>❌ No executive summaries → Officers waste time reading </a:t>
          </a:r>
          <a:endParaRPr lang="en-IN" sz="2400" kern="1200" dirty="0"/>
        </a:p>
      </dsp:txBody>
      <dsp:txXfrm rot="10800000">
        <a:off x="1874299" y="4285278"/>
        <a:ext cx="5966475" cy="659831"/>
      </dsp:txXfrm>
    </dsp:sp>
    <dsp:sp modelId="{C125B14D-6174-4CB9-9785-86762D6D8931}">
      <dsp:nvSpPr>
        <dsp:cNvPr id="0" name=""/>
        <dsp:cNvSpPr/>
      </dsp:nvSpPr>
      <dsp:spPr>
        <a:xfrm>
          <a:off x="1379425" y="4285278"/>
          <a:ext cx="659831" cy="6598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BF2305-2ACD-4A64-AA6A-95D86E23CFC9}">
      <dsp:nvSpPr>
        <dsp:cNvPr id="0" name=""/>
        <dsp:cNvSpPr/>
      </dsp:nvSpPr>
      <dsp:spPr>
        <a:xfrm rot="10800000">
          <a:off x="1709341" y="5142074"/>
          <a:ext cx="6131433" cy="6598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68" tIns="91440" rIns="170688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smtClean="0"/>
            <a:t>❌ No multi-language support → Exclude 90% of citizens </a:t>
          </a:r>
          <a:endParaRPr lang="en-IN" sz="2400" kern="1200" dirty="0"/>
        </a:p>
      </dsp:txBody>
      <dsp:txXfrm rot="10800000">
        <a:off x="1874299" y="5142074"/>
        <a:ext cx="5966475" cy="659831"/>
      </dsp:txXfrm>
    </dsp:sp>
    <dsp:sp modelId="{8AA47B39-573F-4375-A3EE-3CDCE6280DE5}">
      <dsp:nvSpPr>
        <dsp:cNvPr id="0" name=""/>
        <dsp:cNvSpPr/>
      </dsp:nvSpPr>
      <dsp:spPr>
        <a:xfrm>
          <a:off x="1379425" y="5142074"/>
          <a:ext cx="659831" cy="6598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06A433-324D-4FE5-8EA0-3ADF182DCF60}">
      <dsp:nvSpPr>
        <dsp:cNvPr id="0" name=""/>
        <dsp:cNvSpPr/>
      </dsp:nvSpPr>
      <dsp:spPr>
        <a:xfrm rot="10800000">
          <a:off x="1709341" y="5998871"/>
          <a:ext cx="6131433" cy="6598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68" tIns="91440" rIns="170688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smtClean="0"/>
            <a:t>❌ No analytics → City learns nothing from patterns  </a:t>
          </a:r>
          <a:endParaRPr lang="en-IN" sz="2400" kern="1200" dirty="0"/>
        </a:p>
      </dsp:txBody>
      <dsp:txXfrm rot="10800000">
        <a:off x="1874299" y="5998871"/>
        <a:ext cx="5966475" cy="659831"/>
      </dsp:txXfrm>
    </dsp:sp>
    <dsp:sp modelId="{3AFDD7BE-4AF3-4550-92B0-7C843A7EDB9F}">
      <dsp:nvSpPr>
        <dsp:cNvPr id="0" name=""/>
        <dsp:cNvSpPr/>
      </dsp:nvSpPr>
      <dsp:spPr>
        <a:xfrm>
          <a:off x="1379425" y="5998871"/>
          <a:ext cx="659831" cy="6598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3E3479-7889-4820-9889-05179F0B9DA7}">
      <dsp:nvSpPr>
        <dsp:cNvPr id="0" name=""/>
        <dsp:cNvSpPr/>
      </dsp:nvSpPr>
      <dsp:spPr>
        <a:xfrm>
          <a:off x="2589254" y="0"/>
          <a:ext cx="2733884" cy="273388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chemeClr val="bg1"/>
              </a:solidFill>
            </a:rPr>
            <a:t>Core Transformation</a:t>
          </a:r>
          <a:r>
            <a:rPr lang="en-US" sz="2100" kern="1200" dirty="0" smtClean="0">
              <a:solidFill>
                <a:schemeClr val="bg1"/>
              </a:solidFill>
            </a:rPr>
            <a:t>:</a:t>
          </a:r>
          <a:endParaRPr lang="en-IN" sz="2100" kern="1200" dirty="0">
            <a:solidFill>
              <a:schemeClr val="bg1"/>
            </a:solidFill>
          </a:endParaRPr>
        </a:p>
      </dsp:txBody>
      <dsp:txXfrm>
        <a:off x="2953772" y="478429"/>
        <a:ext cx="2004848" cy="1230247"/>
      </dsp:txXfrm>
    </dsp:sp>
    <dsp:sp modelId="{38790808-4658-4CC7-8A23-C19DE4089CB4}">
      <dsp:nvSpPr>
        <dsp:cNvPr id="0" name=""/>
        <dsp:cNvSpPr/>
      </dsp:nvSpPr>
      <dsp:spPr>
        <a:xfrm>
          <a:off x="3511949" y="1765633"/>
          <a:ext cx="2733884" cy="273388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err="1" smtClean="0">
              <a:solidFill>
                <a:schemeClr val="bg1"/>
              </a:solidFill>
            </a:rPr>
            <a:t>Old:Citizen</a:t>
          </a:r>
          <a:r>
            <a:rPr lang="en-US" sz="2800" kern="1200" dirty="0" smtClean="0">
              <a:solidFill>
                <a:schemeClr val="bg1"/>
              </a:solidFill>
            </a:rPr>
            <a:t> </a:t>
          </a:r>
          <a:r>
            <a:rPr lang="en-US" sz="2800" kern="1200" dirty="0" smtClean="0">
              <a:solidFill>
                <a:schemeClr val="bg1"/>
              </a:solidFill>
            </a:rPr>
            <a:t>→ Form → Officer </a:t>
          </a:r>
          <a:endParaRPr lang="en-IN" sz="2800" kern="1200" dirty="0">
            <a:solidFill>
              <a:schemeClr val="bg1"/>
            </a:solidFill>
          </a:endParaRPr>
        </a:p>
      </dsp:txBody>
      <dsp:txXfrm>
        <a:off x="4348062" y="2471887"/>
        <a:ext cx="1640330" cy="1503636"/>
      </dsp:txXfrm>
    </dsp:sp>
    <dsp:sp modelId="{3467E7F6-D727-48F6-A08E-BBAEB04C76BB}">
      <dsp:nvSpPr>
        <dsp:cNvPr id="0" name=""/>
        <dsp:cNvSpPr/>
      </dsp:nvSpPr>
      <dsp:spPr>
        <a:xfrm>
          <a:off x="1538996" y="1765633"/>
          <a:ext cx="2733884" cy="273388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solidFill>
                <a:schemeClr val="bg1"/>
              </a:solidFill>
            </a:rPr>
            <a:t>New: Citizen </a:t>
          </a:r>
          <a:r>
            <a:rPr lang="en-US" sz="2000" kern="1200" dirty="0" smtClean="0">
              <a:solidFill>
                <a:schemeClr val="bg1"/>
              </a:solidFill>
            </a:rPr>
            <a:t>→ </a:t>
          </a:r>
          <a:r>
            <a:rPr lang="en-US" sz="2000" kern="1200" dirty="0" err="1" smtClean="0">
              <a:solidFill>
                <a:schemeClr val="bg1"/>
              </a:solidFill>
            </a:rPr>
            <a:t>Sarthi</a:t>
          </a:r>
          <a:r>
            <a:rPr lang="en-US" sz="2000" kern="1200" dirty="0" smtClean="0">
              <a:solidFill>
                <a:schemeClr val="bg1"/>
              </a:solidFill>
            </a:rPr>
            <a:t> AI → Officer (with complete intelligence) </a:t>
          </a:r>
          <a:endParaRPr lang="en-IN" sz="2000" kern="1200" dirty="0">
            <a:solidFill>
              <a:schemeClr val="bg1"/>
            </a:solidFill>
          </a:endParaRPr>
        </a:p>
      </dsp:txBody>
      <dsp:txXfrm>
        <a:off x="1796436" y="2471887"/>
        <a:ext cx="1640330" cy="15036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DE36F7-6A0F-464B-9BE8-C30468E5FB3F}">
      <dsp:nvSpPr>
        <dsp:cNvPr id="0" name=""/>
        <dsp:cNvSpPr/>
      </dsp:nvSpPr>
      <dsp:spPr>
        <a:xfrm>
          <a:off x="8594" y="728736"/>
          <a:ext cx="2664395" cy="15986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smtClean="0"/>
            <a:t>✅ Gemini 1.5 Flash tested on 100+ civic issue descriptions </a:t>
          </a:r>
          <a:endParaRPr lang="en-IN" sz="2300" kern="1200"/>
        </a:p>
      </dsp:txBody>
      <dsp:txXfrm>
        <a:off x="55416" y="775558"/>
        <a:ext cx="2570751" cy="1504993"/>
      </dsp:txXfrm>
    </dsp:sp>
    <dsp:sp modelId="{778E5338-2F95-4998-AAD8-4B30B795C63D}">
      <dsp:nvSpPr>
        <dsp:cNvPr id="0" name=""/>
        <dsp:cNvSpPr/>
      </dsp:nvSpPr>
      <dsp:spPr>
        <a:xfrm>
          <a:off x="2939429" y="1197670"/>
          <a:ext cx="564851" cy="6607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>
        <a:off x="2939429" y="1329824"/>
        <a:ext cx="395396" cy="396462"/>
      </dsp:txXfrm>
    </dsp:sp>
    <dsp:sp modelId="{D8ACF14B-550E-4C82-90E1-1DD181E383D4}">
      <dsp:nvSpPr>
        <dsp:cNvPr id="0" name=""/>
        <dsp:cNvSpPr/>
      </dsp:nvSpPr>
      <dsp:spPr>
        <a:xfrm>
          <a:off x="3738748" y="728736"/>
          <a:ext cx="2664395" cy="15986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 smtClean="0"/>
            <a:t>✅ 94% accuracy on category detection </a:t>
          </a:r>
          <a:endParaRPr lang="en-IN" sz="2300" kern="1200" dirty="0"/>
        </a:p>
      </dsp:txBody>
      <dsp:txXfrm>
        <a:off x="3785570" y="775558"/>
        <a:ext cx="2570751" cy="1504993"/>
      </dsp:txXfrm>
    </dsp:sp>
    <dsp:sp modelId="{432F69A4-5A88-46E9-AA8B-C91AE93BDCAF}">
      <dsp:nvSpPr>
        <dsp:cNvPr id="0" name=""/>
        <dsp:cNvSpPr/>
      </dsp:nvSpPr>
      <dsp:spPr>
        <a:xfrm>
          <a:off x="6669583" y="1197670"/>
          <a:ext cx="564851" cy="6607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>
        <a:off x="6669583" y="1329824"/>
        <a:ext cx="395396" cy="396462"/>
      </dsp:txXfrm>
    </dsp:sp>
    <dsp:sp modelId="{149E5F9E-F22A-4B7E-BB5A-54FB41E8996A}">
      <dsp:nvSpPr>
        <dsp:cNvPr id="0" name=""/>
        <dsp:cNvSpPr/>
      </dsp:nvSpPr>
      <dsp:spPr>
        <a:xfrm>
          <a:off x="7468902" y="728736"/>
          <a:ext cx="2664395" cy="15986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smtClean="0"/>
            <a:t>✅ Duplicate clustering working on real MongoDB data </a:t>
          </a:r>
          <a:endParaRPr lang="en-IN" sz="2300" kern="1200"/>
        </a:p>
      </dsp:txBody>
      <dsp:txXfrm>
        <a:off x="7515724" y="775558"/>
        <a:ext cx="2570751" cy="1504993"/>
      </dsp:txXfrm>
    </dsp:sp>
    <dsp:sp modelId="{D68C9114-6511-4BC9-B3A4-715CBA990F97}">
      <dsp:nvSpPr>
        <dsp:cNvPr id="0" name=""/>
        <dsp:cNvSpPr/>
      </dsp:nvSpPr>
      <dsp:spPr>
        <a:xfrm>
          <a:off x="10399737" y="1197670"/>
          <a:ext cx="564851" cy="6607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>
        <a:off x="10399737" y="1329824"/>
        <a:ext cx="395396" cy="396462"/>
      </dsp:txXfrm>
    </dsp:sp>
    <dsp:sp modelId="{6CA5759E-B358-453B-970B-8385B59404A5}">
      <dsp:nvSpPr>
        <dsp:cNvPr id="0" name=""/>
        <dsp:cNvSpPr/>
      </dsp:nvSpPr>
      <dsp:spPr>
        <a:xfrm>
          <a:off x="11199055" y="728736"/>
          <a:ext cx="2664395" cy="15986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smtClean="0"/>
            <a:t>✅ Priority engine tested against real Nagpur civic issues</a:t>
          </a:r>
          <a:endParaRPr lang="en-IN" sz="2300" kern="1200"/>
        </a:p>
      </dsp:txBody>
      <dsp:txXfrm>
        <a:off x="11245877" y="775558"/>
        <a:ext cx="2570751" cy="1504993"/>
      </dsp:txXfrm>
    </dsp:sp>
    <dsp:sp modelId="{C54862B4-8DBF-4F65-84AA-116CA756EE55}">
      <dsp:nvSpPr>
        <dsp:cNvPr id="0" name=""/>
        <dsp:cNvSpPr/>
      </dsp:nvSpPr>
      <dsp:spPr>
        <a:xfrm>
          <a:off x="14129891" y="1197670"/>
          <a:ext cx="564851" cy="6607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>
        <a:off x="14129891" y="1329824"/>
        <a:ext cx="395396" cy="396462"/>
      </dsp:txXfrm>
    </dsp:sp>
    <dsp:sp modelId="{21D6D9E4-5CB0-4800-B98E-3E34A1633941}">
      <dsp:nvSpPr>
        <dsp:cNvPr id="0" name=""/>
        <dsp:cNvSpPr/>
      </dsp:nvSpPr>
      <dsp:spPr>
        <a:xfrm>
          <a:off x="14929209" y="728736"/>
          <a:ext cx="2664395" cy="15986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smtClean="0"/>
            <a:t>✅ Voice-to-JSON pipeline functional </a:t>
          </a:r>
          <a:endParaRPr lang="en-IN" sz="2300" kern="1200"/>
        </a:p>
      </dsp:txBody>
      <dsp:txXfrm>
        <a:off x="14976031" y="775558"/>
        <a:ext cx="2570751" cy="15049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2CC7F-55AE-4637-9B14-F3550BFAE49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5E6ACB-DFB0-439C-A48D-950C0964C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854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E6ACB-DFB0-439C-A48D-950C0964C24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282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18" Type="http://schemas.openxmlformats.org/officeDocument/2006/relationships/diagramColors" Target="../diagrams/colors3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17" Type="http://schemas.openxmlformats.org/officeDocument/2006/relationships/diagramQuickStyle" Target="../diagrams/quickStyle3.xml"/><Relationship Id="rId2" Type="http://schemas.openxmlformats.org/officeDocument/2006/relationships/image" Target="../media/image1.png"/><Relationship Id="rId16" Type="http://schemas.openxmlformats.org/officeDocument/2006/relationships/diagramLayout" Target="../diagrams/layout3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5" Type="http://schemas.openxmlformats.org/officeDocument/2006/relationships/diagramData" Target="../diagrams/data1.xml"/><Relationship Id="rId15" Type="http://schemas.openxmlformats.org/officeDocument/2006/relationships/diagramData" Target="../diagrams/data3.xml"/><Relationship Id="rId10" Type="http://schemas.openxmlformats.org/officeDocument/2006/relationships/diagramData" Target="../diagrams/data2.xml"/><Relationship Id="rId19" Type="http://schemas.microsoft.com/office/2007/relationships/diagramDrawing" Target="../diagrams/drawing3.xml"/><Relationship Id="rId4" Type="http://schemas.openxmlformats.org/officeDocument/2006/relationships/image" Target="../media/image3.png"/><Relationship Id="rId9" Type="http://schemas.microsoft.com/office/2007/relationships/diagramDrawing" Target="../diagrams/drawing1.xml"/><Relationship Id="rId14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4.xml"/><Relationship Id="rId5" Type="http://schemas.openxmlformats.org/officeDocument/2006/relationships/image" Target="../media/image4.jpeg"/><Relationship Id="rId10" Type="http://schemas.microsoft.com/office/2007/relationships/diagramDrawing" Target="../diagrams/drawing4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image" Target="../media/image1.png"/><Relationship Id="rId7" Type="http://schemas.openxmlformats.org/officeDocument/2006/relationships/diagramLayout" Target="../diagrams/layout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5.xml"/><Relationship Id="rId5" Type="http://schemas.openxmlformats.org/officeDocument/2006/relationships/image" Target="../media/image3.png"/><Relationship Id="rId10" Type="http://schemas.microsoft.com/office/2007/relationships/diagramDrawing" Target="../diagrams/drawing5.xml"/><Relationship Id="rId4" Type="http://schemas.openxmlformats.org/officeDocument/2006/relationships/image" Target="../media/image2.png"/><Relationship Id="rId9" Type="http://schemas.openxmlformats.org/officeDocument/2006/relationships/diagramColors" Target="../diagrams/colors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3.png"/><Relationship Id="rId9" Type="http://schemas.microsoft.com/office/2007/relationships/diagramDrawing" Target="../diagrams/drawin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6023395" y="4754667"/>
            <a:ext cx="621553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 dirty="0">
                <a:solidFill>
                  <a:srgbClr val="A4F6F9"/>
                </a:solidFill>
                <a:latin typeface="Tomorrow"/>
                <a:ea typeface="Tomorrow"/>
                <a:cs typeface="Tomorrow"/>
                <a:sym typeface="Tomorrow"/>
              </a:rPr>
              <a:t>“Beyond The Edge of Possibility”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62944" y="2247900"/>
            <a:ext cx="11536442" cy="1410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96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CONFLUENCE </a:t>
            </a:r>
            <a:r>
              <a:rPr lang="en-US" sz="9600" dirty="0">
                <a:solidFill>
                  <a:srgbClr val="A4F6F9"/>
                </a:solidFill>
                <a:latin typeface="Tomorrow"/>
                <a:ea typeface="Tomorrow"/>
                <a:cs typeface="Tomorrow"/>
                <a:sym typeface="Tomorrow"/>
              </a:rPr>
              <a:t>2.0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38707" y="6346091"/>
            <a:ext cx="10410587" cy="177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OFFICIAL </a:t>
            </a:r>
            <a:r>
              <a:rPr lang="en-US" sz="5199" dirty="0">
                <a:solidFill>
                  <a:srgbClr val="A4F6F9"/>
                </a:solidFill>
                <a:latin typeface="Tomorrow"/>
                <a:ea typeface="Tomorrow"/>
                <a:cs typeface="Tomorrow"/>
                <a:sym typeface="Tomorrow"/>
              </a:rPr>
              <a:t>PITCH DECK</a:t>
            </a:r>
            <a:r>
              <a:rPr lang="en-US" sz="5199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endParaRPr lang="en-US" sz="5199" dirty="0" smtClean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ctr">
              <a:lnSpc>
                <a:spcPts val="7279"/>
              </a:lnSpc>
            </a:pPr>
            <a:r>
              <a:rPr lang="en-US" sz="5199" b="1" u="sng" dirty="0" smtClean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Team:-TechxCode</a:t>
            </a:r>
            <a:endParaRPr lang="en-US" sz="5199" b="1" u="sng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6200" y="57391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719416" y="871245"/>
            <a:ext cx="14849169" cy="1605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sz="6199" b="1" dirty="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TITLE SLIDE </a:t>
            </a:r>
            <a:r>
              <a:rPr lang="en-US" sz="6199" b="1" dirty="0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&amp;</a:t>
            </a:r>
            <a:r>
              <a:rPr lang="en-US" sz="6199" b="1" dirty="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 TEAM INTRODUCTION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2347513"/>
            <a:ext cx="164592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b="1" dirty="0" smtClean="0">
                <a:solidFill>
                  <a:schemeClr val="bg2"/>
                </a:solidFill>
              </a:rPr>
              <a:t>Title:-</a:t>
            </a:r>
            <a:r>
              <a:rPr lang="en-US" sz="4400" b="1" dirty="0" smtClean="0">
                <a:solidFill>
                  <a:schemeClr val="bg1"/>
                </a:solidFill>
              </a:rPr>
              <a:t>Civic Pulse.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Powered </a:t>
            </a:r>
            <a:r>
              <a:rPr lang="en-US" sz="4400" dirty="0">
                <a:solidFill>
                  <a:schemeClr val="bg1"/>
                </a:solidFill>
              </a:rPr>
              <a:t>by</a:t>
            </a:r>
            <a:r>
              <a:rPr lang="en-US" sz="4400" dirty="0" smtClean="0">
                <a:solidFill>
                  <a:schemeClr val="bg1"/>
                </a:solidFill>
              </a:rPr>
              <a:t>:- </a:t>
            </a:r>
            <a:r>
              <a:rPr lang="en-US" sz="4400" b="1" dirty="0" err="1">
                <a:solidFill>
                  <a:schemeClr val="bg1"/>
                </a:solidFill>
              </a:rPr>
              <a:t>Sarthi</a:t>
            </a:r>
            <a:r>
              <a:rPr lang="en-US" sz="4400" b="1" dirty="0">
                <a:solidFill>
                  <a:schemeClr val="bg1"/>
                </a:solidFill>
              </a:rPr>
              <a:t> </a:t>
            </a:r>
            <a:r>
              <a:rPr lang="en-US" sz="4400" b="1" dirty="0" smtClean="0">
                <a:solidFill>
                  <a:schemeClr val="bg1"/>
                </a:solidFill>
              </a:rPr>
              <a:t>AI.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Domain:-AI Automation.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Subtitle:- </a:t>
            </a:r>
            <a:r>
              <a:rPr lang="en-US" sz="3600" dirty="0">
                <a:solidFill>
                  <a:schemeClr val="bg1"/>
                </a:solidFill>
              </a:rPr>
              <a:t>An Autonomous Civic Intelligence Layer Between Citizens and Government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1000" y="4762500"/>
            <a:ext cx="168402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>
              <a:solidFill>
                <a:schemeClr val="bg2"/>
              </a:solidFill>
            </a:endParaRPr>
          </a:p>
          <a:p>
            <a:r>
              <a:rPr lang="en-US" sz="4000" b="1" dirty="0" smtClean="0">
                <a:solidFill>
                  <a:schemeClr val="bg2"/>
                </a:solidFill>
              </a:rPr>
              <a:t>Team Name:-TechxCode</a:t>
            </a:r>
          </a:p>
          <a:p>
            <a:r>
              <a:rPr lang="en-IN" sz="4000" b="1" dirty="0" smtClean="0">
                <a:solidFill>
                  <a:schemeClr val="bg2"/>
                </a:solidFill>
              </a:rPr>
              <a:t>Team </a:t>
            </a:r>
            <a:r>
              <a:rPr lang="en-IN" sz="4000" b="1" dirty="0" smtClean="0">
                <a:solidFill>
                  <a:schemeClr val="bg2"/>
                </a:solidFill>
              </a:rPr>
              <a:t>Members</a:t>
            </a:r>
            <a:r>
              <a:rPr lang="en-IN" sz="4000" b="1" dirty="0" smtClean="0">
                <a:solidFill>
                  <a:schemeClr val="bg2"/>
                </a:solidFill>
              </a:rPr>
              <a:t>:</a:t>
            </a:r>
            <a:endParaRPr lang="en-IN" sz="4000" b="1" dirty="0" smtClean="0">
              <a:solidFill>
                <a:schemeClr val="bg2"/>
              </a:solidFill>
            </a:endParaRPr>
          </a:p>
          <a:p>
            <a:r>
              <a:rPr lang="en-IN" sz="3600" dirty="0" smtClean="0">
                <a:solidFill>
                  <a:schemeClr val="bg1"/>
                </a:solidFill>
              </a:rPr>
              <a:t>Hunkar Vilas </a:t>
            </a:r>
            <a:r>
              <a:rPr lang="en-IN" sz="3600" dirty="0" err="1" smtClean="0">
                <a:solidFill>
                  <a:schemeClr val="bg1"/>
                </a:solidFill>
              </a:rPr>
              <a:t>Chaware</a:t>
            </a:r>
            <a:endParaRPr lang="en-IN" sz="3600" dirty="0" smtClean="0">
              <a:solidFill>
                <a:schemeClr val="bg1"/>
              </a:solidFill>
            </a:endParaRPr>
          </a:p>
          <a:p>
            <a:r>
              <a:rPr lang="en-IN" sz="3600" dirty="0" smtClean="0">
                <a:solidFill>
                  <a:schemeClr val="bg1"/>
                </a:solidFill>
              </a:rPr>
              <a:t> </a:t>
            </a:r>
            <a:r>
              <a:rPr lang="en-IN" sz="2400" dirty="0">
                <a:solidFill>
                  <a:schemeClr val="bg1"/>
                </a:solidFill>
              </a:rPr>
              <a:t>Backend Architecture </a:t>
            </a:r>
            <a:r>
              <a:rPr lang="en-IN" sz="2400" dirty="0" smtClean="0">
                <a:solidFill>
                  <a:schemeClr val="bg1"/>
                </a:solidFill>
              </a:rPr>
              <a:t> ✓</a:t>
            </a:r>
          </a:p>
          <a:p>
            <a:r>
              <a:rPr lang="en-IN" sz="2400" dirty="0" smtClean="0">
                <a:solidFill>
                  <a:schemeClr val="bg1"/>
                </a:solidFill>
              </a:rPr>
              <a:t> </a:t>
            </a:r>
            <a:r>
              <a:rPr lang="en-IN" sz="2400" dirty="0">
                <a:solidFill>
                  <a:schemeClr val="bg1"/>
                </a:solidFill>
              </a:rPr>
              <a:t>3+ Deployed Production Applications </a:t>
            </a:r>
            <a:r>
              <a:rPr lang="en-IN" sz="2400" dirty="0" smtClean="0">
                <a:solidFill>
                  <a:schemeClr val="bg1"/>
                </a:solidFill>
              </a:rPr>
              <a:t>✓</a:t>
            </a:r>
          </a:p>
          <a:p>
            <a:r>
              <a:rPr lang="en-IN" sz="2400" dirty="0" smtClean="0">
                <a:solidFill>
                  <a:schemeClr val="bg1"/>
                </a:solidFill>
              </a:rPr>
              <a:t> </a:t>
            </a:r>
            <a:r>
              <a:rPr lang="en-IN" sz="2400" dirty="0">
                <a:solidFill>
                  <a:schemeClr val="bg1"/>
                </a:solidFill>
              </a:rPr>
              <a:t>Node.js/</a:t>
            </a:r>
            <a:r>
              <a:rPr lang="en-IN" sz="2400" dirty="0" err="1">
                <a:solidFill>
                  <a:schemeClr val="bg1"/>
                </a:solidFill>
              </a:rPr>
              <a:t>MongoDB</a:t>
            </a:r>
            <a:r>
              <a:rPr lang="en-IN" sz="2400" dirty="0">
                <a:solidFill>
                  <a:schemeClr val="bg1"/>
                </a:solidFill>
              </a:rPr>
              <a:t> Expert ✓ </a:t>
            </a:r>
            <a:endParaRPr lang="en-IN" sz="2400" dirty="0" smtClean="0">
              <a:solidFill>
                <a:schemeClr val="bg1"/>
              </a:solidFill>
            </a:endParaRPr>
          </a:p>
          <a:p>
            <a:r>
              <a:rPr lang="en-IN" sz="2400" dirty="0" smtClean="0">
                <a:solidFill>
                  <a:schemeClr val="bg1"/>
                </a:solidFill>
              </a:rPr>
              <a:t> </a:t>
            </a:r>
            <a:r>
              <a:rPr lang="en-IN" sz="2400" dirty="0">
                <a:solidFill>
                  <a:schemeClr val="bg1"/>
                </a:solidFill>
              </a:rPr>
              <a:t>API design, Gemini </a:t>
            </a:r>
            <a:r>
              <a:rPr lang="en-IN" sz="2400" dirty="0" smtClean="0">
                <a:solidFill>
                  <a:schemeClr val="bg1"/>
                </a:solidFill>
              </a:rPr>
              <a:t>integration</a:t>
            </a:r>
            <a:r>
              <a:rPr lang="en-IN" sz="2400" dirty="0">
                <a:solidFill>
                  <a:schemeClr val="bg1"/>
                </a:solidFill>
              </a:rPr>
              <a:t>.</a:t>
            </a:r>
            <a:r>
              <a:rPr lang="en-IN" sz="2400" dirty="0" smtClean="0">
                <a:solidFill>
                  <a:schemeClr val="bg1"/>
                </a:solidFill>
              </a:rPr>
              <a:t> </a:t>
            </a:r>
            <a:endParaRPr lang="en-IN" sz="2400" dirty="0" smtClean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2"/>
              </a:solidFill>
            </a:endParaRPr>
          </a:p>
          <a:p>
            <a:endParaRPr lang="en-IN" sz="2800" dirty="0">
              <a:solidFill>
                <a:schemeClr val="bg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81876" y="5420583"/>
            <a:ext cx="1105170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 smtClean="0">
              <a:solidFill>
                <a:schemeClr val="bg2"/>
              </a:solidFill>
            </a:endParaRPr>
          </a:p>
          <a:p>
            <a:endParaRPr lang="en-US" sz="3200" dirty="0">
              <a:solidFill>
                <a:schemeClr val="bg2"/>
              </a:solidFill>
            </a:endParaRPr>
          </a:p>
          <a:p>
            <a:r>
              <a:rPr lang="en-US" sz="3600" dirty="0" err="1" smtClean="0">
                <a:solidFill>
                  <a:schemeClr val="bg2"/>
                </a:solidFill>
              </a:rPr>
              <a:t>Poorva</a:t>
            </a:r>
            <a:r>
              <a:rPr lang="en-US" sz="3600" dirty="0" smtClean="0">
                <a:solidFill>
                  <a:schemeClr val="bg2"/>
                </a:solidFill>
              </a:rPr>
              <a:t> </a:t>
            </a:r>
            <a:r>
              <a:rPr lang="en-US" sz="3600" dirty="0" err="1" smtClean="0">
                <a:solidFill>
                  <a:schemeClr val="bg2"/>
                </a:solidFill>
              </a:rPr>
              <a:t>Devendra</a:t>
            </a:r>
            <a:r>
              <a:rPr lang="en-US" sz="3600" dirty="0" smtClean="0">
                <a:solidFill>
                  <a:schemeClr val="bg2"/>
                </a:solidFill>
              </a:rPr>
              <a:t> Jain</a:t>
            </a:r>
            <a:r>
              <a:rPr lang="en-US" sz="3200" dirty="0" smtClean="0">
                <a:solidFill>
                  <a:schemeClr val="bg2"/>
                </a:solidFill>
              </a:rPr>
              <a:t>                                </a:t>
            </a:r>
            <a:r>
              <a:rPr lang="en-US" sz="3600" dirty="0" smtClean="0">
                <a:solidFill>
                  <a:schemeClr val="bg2"/>
                </a:solidFill>
              </a:rPr>
              <a:t>Shreya Anil Gawhane</a:t>
            </a:r>
            <a:endParaRPr lang="en-IN" sz="3600" dirty="0">
              <a:solidFill>
                <a:schemeClr val="bg2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415410"/>
              </p:ext>
            </p:extLst>
          </p:nvPr>
        </p:nvGraphicFramePr>
        <p:xfrm>
          <a:off x="381000" y="6515100"/>
          <a:ext cx="16840200" cy="33185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9602"/>
                <a:gridCol w="6135416"/>
                <a:gridCol w="5445182"/>
              </a:tblGrid>
              <a:tr h="807338">
                <a:tc>
                  <a:txBody>
                    <a:bodyPr/>
                    <a:lstStyle/>
                    <a:p>
                      <a:r>
                        <a:rPr lang="en-US" dirty="0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IN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                                                                                                                 </a:t>
                      </a:r>
                      <a:endParaRPr lang="en-IN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1167">
                <a:tc>
                  <a:txBody>
                    <a:bodyPr/>
                    <a:lstStyle/>
                    <a:p>
                      <a:endParaRPr lang="en-US" dirty="0" smtClean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  <a:p>
                      <a:endParaRPr lang="en-IN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solidFill>
                            <a:schemeClr val="bg1"/>
                          </a:solidFill>
                        </a:rPr>
                        <a:t>Frontend &amp; Product Engineering Lead . </a:t>
                      </a:r>
                    </a:p>
                    <a:p>
                      <a:r>
                        <a:rPr lang="en-IN" sz="2400" dirty="0" smtClean="0">
                          <a:solidFill>
                            <a:schemeClr val="bg1"/>
                          </a:solidFill>
                        </a:rPr>
                        <a:t>React 18 + Voice UI Specialist .</a:t>
                      </a:r>
                    </a:p>
                    <a:p>
                      <a:r>
                        <a:rPr lang="en-IN" sz="2400" dirty="0" smtClean="0">
                          <a:solidFill>
                            <a:schemeClr val="bg1"/>
                          </a:solidFill>
                        </a:rPr>
                        <a:t>Mobile-First UX Expert Expertise: UI/UX, real-time visualization, voice interfaces</a:t>
                      </a:r>
                      <a:r>
                        <a:rPr lang="en-IN" sz="2400" dirty="0" smtClean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en-IN" sz="24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solidFill>
                            <a:schemeClr val="bg1"/>
                          </a:solidFill>
                        </a:rPr>
                        <a:t>Full-Stack Integration &amp; Deployment Lead  </a:t>
                      </a:r>
                    </a:p>
                    <a:p>
                      <a:r>
                        <a:rPr lang="en-IN" sz="2400" dirty="0" smtClean="0">
                          <a:solidFill>
                            <a:schemeClr val="bg1"/>
                          </a:solidFill>
                        </a:rPr>
                        <a:t>CI/CD Pipeline Architect . </a:t>
                      </a:r>
                    </a:p>
                    <a:p>
                      <a:r>
                        <a:rPr lang="en-IN" sz="2400" dirty="0" smtClean="0">
                          <a:solidFill>
                            <a:schemeClr val="bg1"/>
                          </a:solidFill>
                        </a:rPr>
                        <a:t>Mobile App Developer .</a:t>
                      </a:r>
                    </a:p>
                    <a:p>
                      <a:r>
                        <a:rPr lang="en-IN" sz="2400" dirty="0" smtClean="0">
                          <a:solidFill>
                            <a:schemeClr val="bg1"/>
                          </a:solidFill>
                        </a:rPr>
                        <a:t>Database Optimization Specialist. Expertise: Deployment, mobile, performance, testing.</a:t>
                      </a:r>
                      <a:endParaRPr lang="en-IN" sz="24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1430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4821176" y="1073798"/>
            <a:ext cx="9170551" cy="824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99"/>
              </a:lnSpc>
            </a:pPr>
            <a:r>
              <a:rPr lang="en-US" sz="6000" b="1" dirty="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PROBLEM </a:t>
            </a:r>
            <a:r>
              <a:rPr lang="en-US" sz="6000" b="1" dirty="0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776" y="2122557"/>
            <a:ext cx="792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/>
                </a:solidFill>
              </a:rPr>
              <a:t>Title: </a:t>
            </a:r>
            <a:r>
              <a:rPr lang="en-US" sz="4000" dirty="0">
                <a:solidFill>
                  <a:schemeClr val="bg1"/>
                </a:solidFill>
              </a:rPr>
              <a:t>The Civic </a:t>
            </a:r>
            <a:r>
              <a:rPr lang="en-US" sz="4000" dirty="0" smtClean="0">
                <a:solidFill>
                  <a:schemeClr val="bg1"/>
                </a:solidFill>
              </a:rPr>
              <a:t>Complaint Crisis </a:t>
            </a:r>
            <a:r>
              <a:rPr lang="en-US" sz="3600" dirty="0" smtClean="0">
                <a:solidFill>
                  <a:schemeClr val="bg1"/>
                </a:solidFill>
              </a:rPr>
              <a:t>.</a:t>
            </a:r>
            <a:endParaRPr lang="en-IN" sz="3600" dirty="0">
              <a:solidFill>
                <a:schemeClr val="bg1"/>
              </a:solidFill>
            </a:endParaRPr>
          </a:p>
        </p:txBody>
      </p:sp>
      <p:graphicFrame>
        <p:nvGraphicFramePr>
          <p:cNvPr id="22" name="Diagram 21"/>
          <p:cNvGraphicFramePr/>
          <p:nvPr>
            <p:extLst>
              <p:ext uri="{D42A27DB-BD31-4B8C-83A1-F6EECF244321}">
                <p14:modId xmlns:p14="http://schemas.microsoft.com/office/powerpoint/2010/main" val="1023979448"/>
              </p:ext>
            </p:extLst>
          </p:nvPr>
        </p:nvGraphicFramePr>
        <p:xfrm>
          <a:off x="401256" y="3009900"/>
          <a:ext cx="17221200" cy="1990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3804806414"/>
              </p:ext>
            </p:extLst>
          </p:nvPr>
        </p:nvGraphicFramePr>
        <p:xfrm>
          <a:off x="381000" y="8040350"/>
          <a:ext cx="17449800" cy="1581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24" name="Diagram 23"/>
          <p:cNvGraphicFramePr/>
          <p:nvPr>
            <p:extLst>
              <p:ext uri="{D42A27DB-BD31-4B8C-83A1-F6EECF244321}">
                <p14:modId xmlns:p14="http://schemas.microsoft.com/office/powerpoint/2010/main" val="2383438969"/>
              </p:ext>
            </p:extLst>
          </p:nvPr>
        </p:nvGraphicFramePr>
        <p:xfrm>
          <a:off x="363903" y="5143500"/>
          <a:ext cx="17513569" cy="2636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38200" y="2095500"/>
            <a:ext cx="8001000" cy="7620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1430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3516802" y="871245"/>
            <a:ext cx="11254397" cy="719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sz="4800" b="1" dirty="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EXISTING SOLUTION </a:t>
            </a:r>
            <a:r>
              <a:rPr lang="en-US" sz="4800" b="1" dirty="0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AND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2099935"/>
            <a:ext cx="1082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2"/>
                </a:solidFill>
              </a:rPr>
              <a:t>Title: Why Current Solutions Fall Short</a:t>
            </a:r>
            <a:endParaRPr lang="en-IN" sz="3600" b="1" dirty="0">
              <a:solidFill>
                <a:schemeClr val="bg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3284" y="2978929"/>
            <a:ext cx="6705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2"/>
                </a:solidFill>
              </a:rPr>
              <a:t>Competitor </a:t>
            </a:r>
            <a:r>
              <a:rPr lang="en-IN" sz="4000" dirty="0" smtClean="0">
                <a:solidFill>
                  <a:schemeClr val="bg2"/>
                </a:solidFill>
              </a:rPr>
              <a:t>Analysis:</a:t>
            </a:r>
            <a:r>
              <a:rPr lang="en-IN" sz="4000" dirty="0" smtClean="0"/>
              <a:t>: </a:t>
            </a:r>
            <a:endParaRPr lang="en-IN" sz="40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54" y="3686815"/>
            <a:ext cx="8659245" cy="4809485"/>
          </a:xfrm>
          <a:prstGeom prst="rect">
            <a:avLst/>
          </a:prstGeom>
        </p:spPr>
      </p:pic>
      <p:graphicFrame>
        <p:nvGraphicFramePr>
          <p:cNvPr id="18" name="Diagram 17"/>
          <p:cNvGraphicFramePr/>
          <p:nvPr>
            <p:extLst>
              <p:ext uri="{D42A27DB-BD31-4B8C-83A1-F6EECF244321}">
                <p14:modId xmlns:p14="http://schemas.microsoft.com/office/powerpoint/2010/main" val="1458628579"/>
              </p:ext>
            </p:extLst>
          </p:nvPr>
        </p:nvGraphicFramePr>
        <p:xfrm>
          <a:off x="8382000" y="2099934"/>
          <a:ext cx="9220200" cy="6659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914400" y="9029700"/>
            <a:ext cx="1463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</a:rPr>
              <a:t>The Gap</a:t>
            </a:r>
            <a:r>
              <a:rPr lang="en-US" sz="3600" dirty="0" smtClean="0">
                <a:solidFill>
                  <a:schemeClr val="bg2"/>
                </a:solidFill>
              </a:rPr>
              <a:t>: </a:t>
            </a:r>
            <a:r>
              <a:rPr lang="en-US" sz="3600" dirty="0">
                <a:solidFill>
                  <a:schemeClr val="bg2"/>
                </a:solidFill>
              </a:rPr>
              <a:t>All systems are "complaint collection boxes" with zero intelligence. None are "AI Civic Operating Systems" that actively understand and </a:t>
            </a:r>
            <a:r>
              <a:rPr lang="en-US" sz="3600" dirty="0" smtClean="0">
                <a:solidFill>
                  <a:schemeClr val="bg2"/>
                </a:solidFill>
              </a:rPr>
              <a:t>act</a:t>
            </a:r>
            <a:r>
              <a:rPr lang="en-US" sz="3600" dirty="0">
                <a:solidFill>
                  <a:schemeClr val="bg1"/>
                </a:solidFill>
              </a:rPr>
              <a:t>.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2099935"/>
            <a:ext cx="754380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1092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t="-9297" b="-929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43912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3626596" y="1073798"/>
            <a:ext cx="11254397" cy="824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sz="6199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PROPOSED </a:t>
            </a:r>
            <a:r>
              <a:rPr lang="en-US" sz="6199" b="1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53890"/>
            <a:ext cx="1021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>
                <a:solidFill>
                  <a:schemeClr val="bg2"/>
                </a:solidFill>
              </a:rPr>
              <a:t>Title: Sarthi AI - AI Civic Operating System </a:t>
            </a:r>
            <a:endParaRPr lang="en-IN" sz="3600" b="1" dirty="0">
              <a:solidFill>
                <a:schemeClr val="bg2"/>
              </a:solidFill>
            </a:endParaRPr>
          </a:p>
        </p:txBody>
      </p:sp>
      <p:graphicFrame>
        <p:nvGraphicFramePr>
          <p:cNvPr id="17" name="Diagram 16"/>
          <p:cNvGraphicFramePr/>
          <p:nvPr>
            <p:extLst>
              <p:ext uri="{D42A27DB-BD31-4B8C-83A1-F6EECF244321}">
                <p14:modId xmlns:p14="http://schemas.microsoft.com/office/powerpoint/2010/main" val="706264464"/>
              </p:ext>
            </p:extLst>
          </p:nvPr>
        </p:nvGraphicFramePr>
        <p:xfrm>
          <a:off x="216170" y="2731999"/>
          <a:ext cx="7784830" cy="45564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525000" y="1966529"/>
            <a:ext cx="762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i="1" u="sng" dirty="0">
                <a:solidFill>
                  <a:schemeClr val="bg2"/>
                </a:solidFill>
              </a:rPr>
              <a:t>What </a:t>
            </a:r>
            <a:r>
              <a:rPr lang="en-IN" sz="3200" b="1" i="1" u="sng" dirty="0" err="1">
                <a:solidFill>
                  <a:schemeClr val="bg2"/>
                </a:solidFill>
              </a:rPr>
              <a:t>Sarthi</a:t>
            </a:r>
            <a:r>
              <a:rPr lang="en-IN" sz="3200" b="1" i="1" u="sng" dirty="0">
                <a:solidFill>
                  <a:schemeClr val="bg2"/>
                </a:solidFill>
              </a:rPr>
              <a:t> Does (Automatically):</a:t>
            </a:r>
            <a:r>
              <a:rPr lang="en-IN" sz="3200" b="1" dirty="0">
                <a:solidFill>
                  <a:schemeClr val="bg2"/>
                </a:solidFill>
              </a:rPr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002602"/>
              </p:ext>
            </p:extLst>
          </p:nvPr>
        </p:nvGraphicFramePr>
        <p:xfrm>
          <a:off x="9144000" y="2632387"/>
          <a:ext cx="9067800" cy="7528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88548"/>
                <a:gridCol w="6479252"/>
              </a:tblGrid>
              <a:tr h="1153260">
                <a:tc>
                  <a:txBody>
                    <a:bodyPr/>
                    <a:lstStyle/>
                    <a:p>
                      <a:r>
                        <a:rPr lang="en-IN" sz="2800" b="1" dirty="0" smtClean="0"/>
                        <a:t>Understanding Agent.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Accepts voice, text, regional languages Extracts: category, title, description, location, priority Output: Structured JSON (0.5 seconds)</a:t>
                      </a:r>
                      <a:endParaRPr lang="en-IN" sz="2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8666">
                <a:tc>
                  <a:txBody>
                    <a:bodyPr/>
                    <a:lstStyle/>
                    <a:p>
                      <a:r>
                        <a:rPr lang="en-IN" sz="3600" dirty="0" smtClean="0">
                          <a:solidFill>
                            <a:schemeClr val="bg1"/>
                          </a:solidFill>
                        </a:rPr>
                        <a:t>Duplicate Intelligence Agent</a:t>
                      </a:r>
                      <a:endParaRPr lang="en-IN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Detects duplicate complaints</a:t>
                      </a:r>
                    </a:p>
                    <a:p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Clusters related issues</a:t>
                      </a:r>
                    </a:p>
                    <a:p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Merges nearby reports</a:t>
                      </a:r>
                    </a:p>
                    <a:p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Result: 50 complaints → 1 verified civic issue with 50 confirmations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30685">
                <a:tc>
                  <a:txBody>
                    <a:bodyPr/>
                    <a:lstStyle/>
                    <a:p>
                      <a:r>
                        <a:rPr lang="en-IN" sz="3600" dirty="0" smtClean="0">
                          <a:solidFill>
                            <a:schemeClr val="bg1"/>
                          </a:solidFill>
                        </a:rPr>
                        <a:t>Priority Engine</a:t>
                      </a:r>
                      <a:endParaRPr lang="en-IN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smtClean="0">
                          <a:solidFill>
                            <a:schemeClr val="bg1"/>
                          </a:solidFill>
                        </a:rPr>
                        <a:t>Calculates 0-100 urgency score Considers: severity, population impact, proximity to schools/hospitals</a:t>
                      </a:r>
                      <a:endParaRPr lang="en-IN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30685">
                <a:tc>
                  <a:txBody>
                    <a:bodyPr/>
                    <a:lstStyle/>
                    <a:p>
                      <a:r>
                        <a:rPr lang="en-IN" sz="3200" dirty="0" smtClean="0">
                          <a:solidFill>
                            <a:schemeClr val="bg1"/>
                          </a:solidFill>
                        </a:rPr>
                        <a:t>Department Router</a:t>
                      </a:r>
                      <a:endParaRPr lang="en-IN" sz="3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Auto-identifies correct department Generates officer brief (2-3 sentences of context) Eliminates wrong assignments</a:t>
                      </a:r>
                      <a:endParaRPr lang="en-IN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30685">
                <a:tc>
                  <a:txBody>
                    <a:bodyPr/>
                    <a:lstStyle/>
                    <a:p>
                      <a:r>
                        <a:rPr lang="en-IN" sz="2800" b="1" dirty="0" smtClean="0">
                          <a:solidFill>
                            <a:schemeClr val="bg1"/>
                          </a:solidFill>
                        </a:rPr>
                        <a:t>Ward Intelligence Agent</a:t>
                      </a:r>
                      <a:endParaRPr lang="en-IN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Daily civic digest per ward Top 3 action recommendations Emerging civic risks</a:t>
                      </a:r>
                      <a:endParaRPr lang="en-IN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2047612"/>
            <a:ext cx="8077200" cy="584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838200" y="7277100"/>
            <a:ext cx="8001000" cy="2819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err="1" smtClean="0"/>
              <a:t>Sarthi</a:t>
            </a:r>
            <a:r>
              <a:rPr lang="en-IN" sz="2000" b="1" dirty="0" smtClean="0"/>
              <a:t> </a:t>
            </a:r>
            <a:r>
              <a:rPr lang="en-IN" sz="2000" b="1" dirty="0"/>
              <a:t>AI (within 2 seconds):</a:t>
            </a:r>
          </a:p>
          <a:p>
            <a:pPr algn="ctr"/>
            <a:r>
              <a:rPr lang="en-IN" sz="2000" b="1" dirty="0"/>
              <a:t>✓ Category: Road Infrastructure</a:t>
            </a:r>
          </a:p>
          <a:p>
            <a:pPr algn="ctr"/>
            <a:r>
              <a:rPr lang="en-IN" sz="2000" b="1" dirty="0"/>
              <a:t>✓ Title: Open pothole causing citizen injury</a:t>
            </a:r>
          </a:p>
          <a:p>
            <a:pPr algn="ctr"/>
            <a:r>
              <a:rPr lang="en-IN" sz="2000" b="1" dirty="0"/>
              <a:t>✓ Description: Dangerous road condition</a:t>
            </a:r>
          </a:p>
          <a:p>
            <a:pPr algn="ctr"/>
            <a:r>
              <a:rPr lang="en-IN" sz="2000" b="1" dirty="0"/>
              <a:t>✓ Priority: 89/100 (injury involved, ongoing risk)</a:t>
            </a:r>
          </a:p>
          <a:p>
            <a:pPr algn="ctr"/>
            <a:r>
              <a:rPr lang="en-IN" sz="2000" b="1" dirty="0"/>
              <a:t>✓ Suggested </a:t>
            </a:r>
            <a:r>
              <a:rPr lang="en-IN" sz="2000" b="1" dirty="0" err="1"/>
              <a:t>Dept</a:t>
            </a:r>
            <a:r>
              <a:rPr lang="en-IN" sz="2000" b="1" dirty="0"/>
              <a:t>: Roads &amp; Maintenance</a:t>
            </a:r>
          </a:p>
          <a:p>
            <a:pPr algn="ctr"/>
            <a:r>
              <a:rPr lang="en-IN" sz="2000" b="1" dirty="0"/>
              <a:t>✓ Location: [Auto-extracted]</a:t>
            </a:r>
          </a:p>
          <a:p>
            <a:pPr algn="ctr"/>
            <a:r>
              <a:rPr lang="en-IN" sz="2000" b="1" dirty="0"/>
              <a:t>✓ Duplicate check: Clustered with 12 similar reports in this ward</a:t>
            </a:r>
          </a:p>
          <a:p>
            <a:pPr algn="ctr"/>
            <a:r>
              <a:rPr lang="en-IN" sz="2000" b="1" dirty="0" smtClean="0"/>
              <a:t>Citizen</a:t>
            </a:r>
            <a:r>
              <a:rPr lang="en-IN" sz="2000" b="1" dirty="0"/>
              <a:t>: Confirms with 1 tap ✓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06670" y="38100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3626596" y="871245"/>
            <a:ext cx="11254397" cy="1605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sz="6199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UNIQUE SELLING PROPOSITION </a:t>
            </a:r>
            <a:r>
              <a:rPr lang="en-US" sz="6199" b="1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(USP)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59" y="2298380"/>
            <a:ext cx="975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2"/>
                </a:solidFill>
              </a:rPr>
              <a:t>Title: Why </a:t>
            </a:r>
            <a:r>
              <a:rPr lang="en-US" sz="3200" b="1" dirty="0" err="1">
                <a:solidFill>
                  <a:schemeClr val="bg2"/>
                </a:solidFill>
              </a:rPr>
              <a:t>Sarthi</a:t>
            </a:r>
            <a:r>
              <a:rPr lang="en-US" sz="3200" b="1" dirty="0">
                <a:solidFill>
                  <a:schemeClr val="bg2"/>
                </a:solidFill>
              </a:rPr>
              <a:t> AI is Different </a:t>
            </a:r>
            <a:r>
              <a:rPr lang="en-US" sz="3200" b="1" dirty="0" smtClean="0">
                <a:solidFill>
                  <a:schemeClr val="bg2"/>
                </a:solidFill>
              </a:rPr>
              <a:t>.</a:t>
            </a:r>
            <a:endParaRPr lang="en-IN" sz="3200" b="1" dirty="0">
              <a:solidFill>
                <a:schemeClr val="bg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7259" y="2764905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i="1" u="sng" dirty="0">
                <a:solidFill>
                  <a:schemeClr val="bg2"/>
                </a:solidFill>
              </a:rPr>
              <a:t>Three Unique Differentiators</a:t>
            </a:r>
            <a:r>
              <a:rPr lang="en-IN" sz="2400" b="1" i="1" u="sng" dirty="0">
                <a:solidFill>
                  <a:schemeClr val="bg2"/>
                </a:solidFill>
              </a:rPr>
              <a:t>: </a:t>
            </a:r>
          </a:p>
        </p:txBody>
      </p:sp>
      <p:graphicFrame>
        <p:nvGraphicFramePr>
          <p:cNvPr id="19" name="Diagram 18"/>
          <p:cNvGraphicFramePr/>
          <p:nvPr>
            <p:extLst>
              <p:ext uri="{D42A27DB-BD31-4B8C-83A1-F6EECF244321}">
                <p14:modId xmlns:p14="http://schemas.microsoft.com/office/powerpoint/2010/main" val="2325435266"/>
              </p:ext>
            </p:extLst>
          </p:nvPr>
        </p:nvGraphicFramePr>
        <p:xfrm>
          <a:off x="362673" y="6970363"/>
          <a:ext cx="17602200" cy="3056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-1219200" y="6718470"/>
            <a:ext cx="8839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 smtClean="0">
                <a:solidFill>
                  <a:schemeClr val="bg2"/>
                </a:solidFill>
              </a:rPr>
              <a:t>               </a:t>
            </a:r>
            <a:r>
              <a:rPr lang="en-IN" sz="3600" b="1" i="1" u="sng" dirty="0" smtClean="0">
                <a:solidFill>
                  <a:schemeClr val="bg2"/>
                </a:solidFill>
              </a:rPr>
              <a:t>Technical </a:t>
            </a:r>
            <a:r>
              <a:rPr lang="en-IN" sz="3600" b="1" i="1" u="sng" dirty="0">
                <a:solidFill>
                  <a:schemeClr val="bg2"/>
                </a:solidFill>
              </a:rPr>
              <a:t>Proof of Concept: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977823"/>
              </p:ext>
            </p:extLst>
          </p:nvPr>
        </p:nvGraphicFramePr>
        <p:xfrm>
          <a:off x="367496" y="3415271"/>
          <a:ext cx="17477181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2851"/>
                <a:gridCol w="5578603"/>
                <a:gridCol w="5825727"/>
              </a:tblGrid>
              <a:tr h="3295832"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1. AI as Primary Actor (Not Human-Centric)</a:t>
                      </a:r>
                    </a:p>
                    <a:p>
                      <a:r>
                        <a:rPr lang="en-IN" sz="2400" b="0" dirty="0" smtClean="0"/>
                        <a:t>Traditional systems: Citizen reports → Human processes → Human decides</a:t>
                      </a:r>
                    </a:p>
                    <a:p>
                      <a:r>
                        <a:rPr lang="en-IN" sz="2400" b="0" dirty="0" err="1" smtClean="0"/>
                        <a:t>Sarthi</a:t>
                      </a:r>
                      <a:r>
                        <a:rPr lang="en-IN" sz="2400" b="0" dirty="0" smtClean="0"/>
                        <a:t>: Citizen reports → AI understands → AI verifies → AI prioritizes → AI routes → Human approves/executes</a:t>
                      </a:r>
                    </a:p>
                    <a:p>
                      <a:r>
                        <a:rPr lang="en-IN" sz="2400" b="0" dirty="0" smtClean="0"/>
                        <a:t>Result: 80% faster issue resolution, 100% consistency.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2. Intelligent </a:t>
                      </a:r>
                      <a:r>
                        <a:rPr lang="en-US" sz="2400" b="1" dirty="0" err="1" smtClean="0"/>
                        <a:t>Deduplication</a:t>
                      </a:r>
                      <a:r>
                        <a:rPr lang="en-US" sz="2400" b="1" dirty="0" smtClean="0"/>
                        <a:t> at Scale.</a:t>
                      </a:r>
                    </a:p>
                    <a:p>
                      <a:r>
                        <a:rPr lang="en-US" sz="2400" b="0" dirty="0" smtClean="0"/>
                        <a:t>Problem: Same issue reported 50 times = confusion</a:t>
                      </a:r>
                    </a:p>
                    <a:p>
                      <a:r>
                        <a:rPr lang="en-US" sz="2400" b="0" dirty="0" err="1" smtClean="0"/>
                        <a:t>Sarthi</a:t>
                      </a:r>
                      <a:r>
                        <a:rPr lang="en-US" sz="2400" b="0" dirty="0" smtClean="0"/>
                        <a:t>: Detects duplicates → Clusters → Shows "50 citizens report this"</a:t>
                      </a:r>
                    </a:p>
                    <a:p>
                      <a:r>
                        <a:rPr lang="en-US" sz="2400" b="0" dirty="0" smtClean="0"/>
                        <a:t>Result: True picture of civic problems; "heat maps" of crisis areas</a:t>
                      </a:r>
                    </a:p>
                    <a:p>
                      <a:r>
                        <a:rPr lang="en-US" sz="2400" b="0" dirty="0" smtClean="0"/>
                        <a:t>Impact: 70% fewer redundant reports, better resource allocation.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3. Zero Friction Reporting (Voice-First)</a:t>
                      </a:r>
                    </a:p>
                    <a:p>
                      <a:r>
                        <a:rPr lang="en-US" sz="2400" b="0" dirty="0" smtClean="0"/>
                        <a:t>Most civic apps: Forms with 10 fields</a:t>
                      </a:r>
                    </a:p>
                    <a:p>
                      <a:r>
                        <a:rPr lang="en-US" sz="2400" b="0" dirty="0" err="1" smtClean="0"/>
                        <a:t>Sarthi</a:t>
                      </a:r>
                      <a:r>
                        <a:rPr lang="en-US" sz="2400" b="0" dirty="0" smtClean="0"/>
                        <a:t>: Just speak. AI does the rest.</a:t>
                      </a:r>
                    </a:p>
                    <a:p>
                      <a:r>
                        <a:rPr lang="en-US" sz="2400" b="0" dirty="0" smtClean="0"/>
                        <a:t>Multi-language support (Hindi, Marathi, English)</a:t>
                      </a:r>
                    </a:p>
                    <a:p>
                      <a:r>
                        <a:rPr lang="en-US" sz="2400" b="0" dirty="0" smtClean="0"/>
                        <a:t>Impact: 5-10x higher citizen participation (especially from non-English speakers).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3779253" y="1143000"/>
            <a:ext cx="11254397" cy="824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sz="6199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SYSTEM </a:t>
            </a:r>
            <a:r>
              <a:rPr lang="en-US" sz="6199" b="1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ARCHITECTURE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1999518"/>
            <a:ext cx="10452235" cy="78683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3516802" y="1143000"/>
            <a:ext cx="11254397" cy="824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sz="6199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TECH </a:t>
            </a:r>
            <a:r>
              <a:rPr lang="en-US" sz="6199" b="1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123091"/>
            <a:ext cx="563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</a:rPr>
              <a:t>T</a:t>
            </a:r>
            <a:r>
              <a:rPr lang="en-US" sz="3200" b="1" dirty="0">
                <a:solidFill>
                  <a:schemeClr val="bg2"/>
                </a:solidFill>
              </a:rPr>
              <a:t>itle: Built for Speed &amp; Scale </a:t>
            </a:r>
            <a:endParaRPr lang="en-IN" sz="3200" b="1" dirty="0">
              <a:solidFill>
                <a:schemeClr val="bg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2071" y="2319370"/>
            <a:ext cx="472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1" u="sng" dirty="0">
                <a:solidFill>
                  <a:schemeClr val="bg2"/>
                </a:solidFill>
              </a:rPr>
              <a:t>Technology Choices: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55522"/>
            <a:ext cx="8053511" cy="40920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280" y="3390901"/>
            <a:ext cx="8126320" cy="642729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73481" y="7078980"/>
            <a:ext cx="7513319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i="1" u="sng" dirty="0">
                <a:solidFill>
                  <a:schemeClr val="bg2"/>
                </a:solidFill>
              </a:rPr>
              <a:t>Why This Stack</a:t>
            </a:r>
            <a:r>
              <a:rPr lang="en-IN" sz="2800" b="1" i="1" u="sng" dirty="0" smtClean="0">
                <a:solidFill>
                  <a:schemeClr val="bg2"/>
                </a:solidFill>
              </a:rPr>
              <a:t>:</a:t>
            </a:r>
          </a:p>
          <a:p>
            <a:r>
              <a:rPr lang="en-US" sz="2400" dirty="0">
                <a:solidFill>
                  <a:schemeClr val="bg2"/>
                </a:solidFill>
              </a:rPr>
              <a:t>✅ All components have free/affordable tiers for startup scaling </a:t>
            </a:r>
            <a:endParaRPr lang="en-US" sz="2400" dirty="0" smtClean="0">
              <a:solidFill>
                <a:schemeClr val="bg2"/>
              </a:solidFill>
            </a:endParaRPr>
          </a:p>
          <a:p>
            <a:r>
              <a:rPr lang="en-US" sz="2400" dirty="0" smtClean="0">
                <a:solidFill>
                  <a:schemeClr val="bg2"/>
                </a:solidFill>
              </a:rPr>
              <a:t>✅ </a:t>
            </a:r>
            <a:r>
              <a:rPr lang="en-US" sz="2400" dirty="0">
                <a:solidFill>
                  <a:schemeClr val="bg2"/>
                </a:solidFill>
              </a:rPr>
              <a:t>Rapid development (built this in 24-36 hours) </a:t>
            </a:r>
            <a:endParaRPr lang="en-US" sz="2400" dirty="0" smtClean="0">
              <a:solidFill>
                <a:schemeClr val="bg2"/>
              </a:solidFill>
            </a:endParaRPr>
          </a:p>
          <a:p>
            <a:r>
              <a:rPr lang="en-US" sz="2400" dirty="0" smtClean="0">
                <a:solidFill>
                  <a:schemeClr val="bg2"/>
                </a:solidFill>
              </a:rPr>
              <a:t>✅ </a:t>
            </a:r>
            <a:r>
              <a:rPr lang="en-US" sz="2400" dirty="0">
                <a:solidFill>
                  <a:schemeClr val="bg2"/>
                </a:solidFill>
              </a:rPr>
              <a:t>Production-ready code </a:t>
            </a:r>
            <a:endParaRPr lang="en-US" sz="2400" dirty="0" smtClean="0">
              <a:solidFill>
                <a:schemeClr val="bg2"/>
              </a:solidFill>
            </a:endParaRPr>
          </a:p>
          <a:p>
            <a:r>
              <a:rPr lang="en-US" sz="2400" dirty="0" smtClean="0">
                <a:solidFill>
                  <a:schemeClr val="bg2"/>
                </a:solidFill>
              </a:rPr>
              <a:t>✅ </a:t>
            </a:r>
            <a:r>
              <a:rPr lang="en-US" sz="2400" dirty="0">
                <a:solidFill>
                  <a:schemeClr val="bg2"/>
                </a:solidFill>
              </a:rPr>
              <a:t>Can scale to 100K+ </a:t>
            </a:r>
            <a:r>
              <a:rPr lang="en-US" sz="2400" dirty="0" smtClean="0">
                <a:solidFill>
                  <a:schemeClr val="bg2"/>
                </a:solidFill>
              </a:rPr>
              <a:t>issues/day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 </a:t>
            </a:r>
            <a:r>
              <a:rPr lang="en-US" sz="2400" dirty="0">
                <a:solidFill>
                  <a:schemeClr val="bg2"/>
                </a:solidFill>
              </a:rPr>
              <a:t>✅ Reuses existing </a:t>
            </a:r>
            <a:r>
              <a:rPr lang="en-US" sz="2400" dirty="0" err="1">
                <a:solidFill>
                  <a:schemeClr val="bg2"/>
                </a:solidFill>
              </a:rPr>
              <a:t>CivicPulse</a:t>
            </a:r>
            <a:r>
              <a:rPr lang="en-US" sz="2400" dirty="0">
                <a:solidFill>
                  <a:schemeClr val="bg2"/>
                </a:solidFill>
              </a:rPr>
              <a:t> infrastructure</a:t>
            </a:r>
            <a:r>
              <a:rPr lang="en-IN" sz="2400" dirty="0" smtClean="0">
                <a:solidFill>
                  <a:schemeClr val="bg2"/>
                </a:solidFill>
              </a:rPr>
              <a:t> </a:t>
            </a:r>
            <a:endParaRPr lang="en-IN" sz="2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9101138" y="4823260"/>
            <a:ext cx="305314" cy="861374"/>
          </a:xfrm>
          <a:custGeom>
            <a:avLst/>
            <a:gdLst/>
            <a:ahLst/>
            <a:cxnLst/>
            <a:rect l="l" t="t" r="r" b="b"/>
            <a:pathLst>
              <a:path w="305314" h="861374">
                <a:moveTo>
                  <a:pt x="0" y="0"/>
                </a:moveTo>
                <a:lnTo>
                  <a:pt x="305314" y="0"/>
                </a:lnTo>
                <a:lnTo>
                  <a:pt x="305314" y="861374"/>
                </a:lnTo>
                <a:lnTo>
                  <a:pt x="0" y="8613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3779253" y="1073798"/>
            <a:ext cx="11254397" cy="824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sz="6199" b="1" dirty="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 </a:t>
            </a:r>
            <a:r>
              <a:rPr lang="en-US" sz="6199" b="1" dirty="0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&amp;</a:t>
            </a:r>
            <a:r>
              <a:rPr lang="en-US" sz="6199" b="1" dirty="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 BENEFITS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2171700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</a:rPr>
              <a:t>Title: The Real-World Impact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50197"/>
            <a:ext cx="6096000" cy="7700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u="sng" dirty="0">
                <a:solidFill>
                  <a:schemeClr val="bg2"/>
                </a:solidFill>
              </a:rPr>
              <a:t>For Citizens: </a:t>
            </a:r>
            <a:endParaRPr lang="en-US" sz="3200" b="1" i="1" u="sng" dirty="0" smtClean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bg2"/>
                </a:solidFill>
              </a:rPr>
              <a:t>Report </a:t>
            </a:r>
            <a:r>
              <a:rPr lang="en-US" sz="2400" dirty="0">
                <a:solidFill>
                  <a:schemeClr val="bg2"/>
                </a:solidFill>
              </a:rPr>
              <a:t>issues in natural language (voice or text) </a:t>
            </a:r>
            <a:endParaRPr lang="en-US" sz="2400" dirty="0" smtClean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bg2"/>
                </a:solidFill>
              </a:rPr>
              <a:t>2-second </a:t>
            </a:r>
            <a:r>
              <a:rPr lang="en-US" sz="2400" dirty="0">
                <a:solidFill>
                  <a:schemeClr val="bg2"/>
                </a:solidFill>
              </a:rPr>
              <a:t>response with AI understanding </a:t>
            </a:r>
            <a:endParaRPr lang="en-US" sz="2400" dirty="0" smtClean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bg2"/>
                </a:solidFill>
              </a:rPr>
              <a:t>Support </a:t>
            </a:r>
            <a:r>
              <a:rPr lang="en-US" sz="2400" dirty="0">
                <a:solidFill>
                  <a:schemeClr val="bg2"/>
                </a:solidFill>
              </a:rPr>
              <a:t>for regional </a:t>
            </a:r>
            <a:r>
              <a:rPr lang="en-US" sz="2400" dirty="0" smtClean="0">
                <a:solidFill>
                  <a:schemeClr val="bg2"/>
                </a:solidFill>
              </a:rPr>
              <a:t>languages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bg2"/>
                </a:solidFill>
              </a:rPr>
              <a:t>Instant </a:t>
            </a:r>
            <a:r>
              <a:rPr lang="en-US" sz="2400" dirty="0">
                <a:solidFill>
                  <a:schemeClr val="bg2"/>
                </a:solidFill>
              </a:rPr>
              <a:t>confirmation of issue </a:t>
            </a:r>
            <a:r>
              <a:rPr lang="en-US" sz="2400" dirty="0" smtClean="0">
                <a:solidFill>
                  <a:schemeClr val="bg2"/>
                </a:solidFill>
              </a:rPr>
              <a:t>receipt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bg2"/>
                </a:solidFill>
              </a:rPr>
              <a:t>See </a:t>
            </a:r>
            <a:r>
              <a:rPr lang="en-US" sz="2400" dirty="0">
                <a:solidFill>
                  <a:schemeClr val="bg2"/>
                </a:solidFill>
              </a:rPr>
              <a:t>how many others reported the same issue </a:t>
            </a:r>
            <a:endParaRPr lang="en-US" sz="2400" dirty="0" smtClean="0">
              <a:solidFill>
                <a:schemeClr val="bg2"/>
              </a:solidFill>
            </a:endParaRPr>
          </a:p>
          <a:p>
            <a:endParaRPr lang="en-IN" sz="3200" dirty="0" smtClean="0">
              <a:solidFill>
                <a:schemeClr val="bg2"/>
              </a:solidFill>
            </a:endParaRPr>
          </a:p>
          <a:p>
            <a:r>
              <a:rPr lang="en-IN" sz="3200" b="1" i="1" u="sng" dirty="0" smtClean="0">
                <a:solidFill>
                  <a:schemeClr val="bg2"/>
                </a:solidFill>
              </a:rPr>
              <a:t>For </a:t>
            </a:r>
            <a:r>
              <a:rPr lang="en-IN" sz="3200" b="1" i="1" u="sng" dirty="0">
                <a:solidFill>
                  <a:schemeClr val="bg2"/>
                </a:solidFill>
              </a:rPr>
              <a:t>Government Officers: </a:t>
            </a:r>
            <a:endParaRPr lang="en-IN" sz="3200" b="1" i="1" u="sng" dirty="0" smtClean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 smtClean="0">
                <a:solidFill>
                  <a:schemeClr val="bg2"/>
                </a:solidFill>
              </a:rPr>
              <a:t>Pre-processed </a:t>
            </a:r>
            <a:r>
              <a:rPr lang="en-IN" sz="2400" dirty="0">
                <a:solidFill>
                  <a:schemeClr val="bg2"/>
                </a:solidFill>
              </a:rPr>
              <a:t>briefs instead of raw complaints </a:t>
            </a:r>
            <a:endParaRPr lang="en-IN" sz="2400" dirty="0" smtClean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 smtClean="0">
                <a:solidFill>
                  <a:schemeClr val="bg2"/>
                </a:solidFill>
              </a:rPr>
              <a:t> </a:t>
            </a:r>
            <a:r>
              <a:rPr lang="en-IN" sz="2400" dirty="0">
                <a:solidFill>
                  <a:schemeClr val="bg2"/>
                </a:solidFill>
              </a:rPr>
              <a:t>Auto-prioritized action items (handle 95/100 urgency first) </a:t>
            </a:r>
            <a:endParaRPr lang="en-IN" sz="2400" dirty="0" smtClean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 smtClean="0">
                <a:solidFill>
                  <a:schemeClr val="bg2"/>
                </a:solidFill>
              </a:rPr>
              <a:t> </a:t>
            </a:r>
            <a:r>
              <a:rPr lang="en-IN" sz="2400" dirty="0">
                <a:solidFill>
                  <a:schemeClr val="bg2"/>
                </a:solidFill>
              </a:rPr>
              <a:t>Civic </a:t>
            </a:r>
            <a:r>
              <a:rPr lang="en-IN" sz="2400" dirty="0" err="1">
                <a:solidFill>
                  <a:schemeClr val="bg2"/>
                </a:solidFill>
              </a:rPr>
              <a:t>heatmaps</a:t>
            </a:r>
            <a:r>
              <a:rPr lang="en-IN" sz="2400" dirty="0">
                <a:solidFill>
                  <a:schemeClr val="bg2"/>
                </a:solidFill>
              </a:rPr>
              <a:t> showing where to focus </a:t>
            </a:r>
            <a:r>
              <a:rPr lang="en-IN" sz="2400" dirty="0" smtClean="0">
                <a:solidFill>
                  <a:schemeClr val="bg2"/>
                </a:solidFill>
              </a:rPr>
              <a:t>resources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 smtClean="0">
                <a:solidFill>
                  <a:schemeClr val="bg2"/>
                </a:solidFill>
              </a:rPr>
              <a:t>Understand </a:t>
            </a:r>
            <a:r>
              <a:rPr lang="en-IN" sz="2400" dirty="0">
                <a:solidFill>
                  <a:schemeClr val="bg2"/>
                </a:solidFill>
              </a:rPr>
              <a:t>citizen impact at a glance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 smtClean="0">
                <a:solidFill>
                  <a:schemeClr val="bg2"/>
                </a:solidFill>
              </a:rPr>
              <a:t> </a:t>
            </a:r>
            <a:r>
              <a:rPr lang="en-IN" sz="2400" dirty="0">
                <a:solidFill>
                  <a:schemeClr val="bg2"/>
                </a:solidFill>
              </a:rPr>
              <a:t>Trends &amp; patterns over time → predictive maintenance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2818031"/>
            <a:ext cx="9525000" cy="468766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67600" y="7993380"/>
            <a:ext cx="10210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i="1" u="sng" dirty="0">
                <a:solidFill>
                  <a:schemeClr val="bg2"/>
                </a:solidFill>
              </a:rPr>
              <a:t>Scalability: </a:t>
            </a:r>
            <a:endParaRPr lang="en-US" sz="3200" b="1" i="1" u="sng" dirty="0" smtClean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bg2"/>
                </a:solidFill>
              </a:rPr>
              <a:t>Designed </a:t>
            </a:r>
            <a:r>
              <a:rPr lang="en-US" sz="2400" dirty="0">
                <a:solidFill>
                  <a:schemeClr val="bg2"/>
                </a:solidFill>
              </a:rPr>
              <a:t>for 100K+ </a:t>
            </a:r>
            <a:r>
              <a:rPr lang="en-US" sz="2400" dirty="0" smtClean="0">
                <a:solidFill>
                  <a:schemeClr val="bg2"/>
                </a:solidFill>
              </a:rPr>
              <a:t>complaints/day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bg2"/>
                </a:solidFill>
              </a:rPr>
              <a:t> </a:t>
            </a:r>
            <a:r>
              <a:rPr lang="en-US" sz="2400" dirty="0">
                <a:solidFill>
                  <a:schemeClr val="bg2"/>
                </a:solidFill>
              </a:rPr>
              <a:t>Real-time processing with </a:t>
            </a:r>
            <a:r>
              <a:rPr lang="en-US" sz="2400" dirty="0" smtClean="0">
                <a:solidFill>
                  <a:schemeClr val="bg2"/>
                </a:solidFill>
              </a:rPr>
              <a:t>AI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bg2"/>
                </a:solidFill>
              </a:rPr>
              <a:t> </a:t>
            </a:r>
            <a:r>
              <a:rPr lang="en-US" sz="2400" dirty="0">
                <a:solidFill>
                  <a:schemeClr val="bg2"/>
                </a:solidFill>
              </a:rPr>
              <a:t>Can handle entire city in 1 platform </a:t>
            </a:r>
            <a:endParaRPr lang="en-US" sz="2400" dirty="0" smtClean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bg2"/>
                </a:solidFill>
              </a:rPr>
              <a:t>Cost-effective</a:t>
            </a:r>
            <a:r>
              <a:rPr lang="en-US" sz="2400" dirty="0">
                <a:solidFill>
                  <a:schemeClr val="bg2"/>
                </a:solidFill>
              </a:rPr>
              <a:t>: No hiring required </a:t>
            </a:r>
            <a:endParaRPr lang="en-IN" sz="2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3516802" y="1056970"/>
            <a:ext cx="11254397" cy="857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6398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FUTURE </a:t>
            </a:r>
            <a:r>
              <a:rPr lang="en-US" sz="6398" b="1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973798"/>
            <a:ext cx="922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2"/>
                </a:solidFill>
              </a:rPr>
              <a:t>Title: From Hackathon to </a:t>
            </a:r>
            <a:r>
              <a:rPr lang="en-US" sz="3600" b="1" dirty="0" err="1">
                <a:solidFill>
                  <a:schemeClr val="bg2"/>
                </a:solidFill>
              </a:rPr>
              <a:t>Govtech</a:t>
            </a:r>
            <a:r>
              <a:rPr lang="en-US" sz="3600" b="1" dirty="0">
                <a:solidFill>
                  <a:schemeClr val="bg2"/>
                </a:solidFill>
              </a:rPr>
              <a:t> Unicorn </a:t>
            </a:r>
            <a:endParaRPr lang="en-IN" sz="3600" b="1" dirty="0">
              <a:solidFill>
                <a:schemeClr val="bg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7107" y="2639058"/>
            <a:ext cx="838200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u="sng" dirty="0">
                <a:solidFill>
                  <a:schemeClr val="bg2"/>
                </a:solidFill>
              </a:rPr>
              <a:t>Phase 2: Advanced AI Features (Next 3 </a:t>
            </a:r>
            <a:r>
              <a:rPr lang="en-US" sz="2800" b="1" i="1" u="sng" dirty="0" smtClean="0">
                <a:solidFill>
                  <a:schemeClr val="bg2"/>
                </a:solidFill>
              </a:rPr>
              <a:t>Months)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2"/>
                </a:solidFill>
              </a:rPr>
              <a:t>Predictive </a:t>
            </a:r>
            <a:r>
              <a:rPr lang="en-US" sz="2000" dirty="0">
                <a:solidFill>
                  <a:schemeClr val="bg2"/>
                </a:solidFill>
              </a:rPr>
              <a:t>Maintenance </a:t>
            </a:r>
            <a:endParaRPr lang="en-US" sz="2000" dirty="0" smtClean="0">
              <a:solidFill>
                <a:schemeClr val="bg2"/>
              </a:solidFill>
            </a:endParaRPr>
          </a:p>
          <a:p>
            <a:r>
              <a:rPr lang="en-US" sz="2000" dirty="0" smtClean="0">
                <a:solidFill>
                  <a:schemeClr val="bg2"/>
                </a:solidFill>
              </a:rPr>
              <a:t>                ML </a:t>
            </a:r>
            <a:r>
              <a:rPr lang="en-US" sz="2000" dirty="0">
                <a:solidFill>
                  <a:schemeClr val="bg2"/>
                </a:solidFill>
              </a:rPr>
              <a:t>model predicts infrastructure failures before they happen </a:t>
            </a:r>
            <a:endParaRPr lang="en-US" sz="2000" dirty="0" smtClean="0">
              <a:solidFill>
                <a:schemeClr val="bg2"/>
              </a:solidFill>
            </a:endParaRPr>
          </a:p>
          <a:p>
            <a:r>
              <a:rPr lang="en-US" sz="2000" dirty="0" smtClean="0">
                <a:solidFill>
                  <a:schemeClr val="bg2"/>
                </a:solidFill>
              </a:rPr>
              <a:t>               "</a:t>
            </a:r>
            <a:r>
              <a:rPr lang="en-US" sz="2000" dirty="0">
                <a:solidFill>
                  <a:schemeClr val="bg2"/>
                </a:solidFill>
              </a:rPr>
              <a:t>Pothole risk increasing in Ward 5" → Proactive maintenance </a:t>
            </a:r>
            <a:endParaRPr lang="en-US" sz="2000" dirty="0" smtClean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i="1" u="sng" dirty="0">
                <a:solidFill>
                  <a:schemeClr val="bg2"/>
                </a:solidFill>
              </a:rPr>
              <a:t>Smart Escalation </a:t>
            </a:r>
          </a:p>
          <a:p>
            <a:r>
              <a:rPr lang="en-US" sz="2000" dirty="0" smtClean="0">
                <a:solidFill>
                  <a:schemeClr val="bg2"/>
                </a:solidFill>
              </a:rPr>
              <a:t>                Auto-escalate </a:t>
            </a:r>
            <a:r>
              <a:rPr lang="en-US" sz="2000" dirty="0">
                <a:solidFill>
                  <a:schemeClr val="bg2"/>
                </a:solidFill>
              </a:rPr>
              <a:t>issues approaching deadline </a:t>
            </a:r>
            <a:endParaRPr lang="en-US" sz="2000" dirty="0" smtClean="0">
              <a:solidFill>
                <a:schemeClr val="bg2"/>
              </a:solidFill>
            </a:endParaRPr>
          </a:p>
          <a:p>
            <a:r>
              <a:rPr lang="en-US" sz="2000" dirty="0" smtClean="0">
                <a:solidFill>
                  <a:schemeClr val="bg2"/>
                </a:solidFill>
              </a:rPr>
              <a:t>                Auto-notify </a:t>
            </a:r>
            <a:r>
              <a:rPr lang="en-US" sz="2000" dirty="0">
                <a:solidFill>
                  <a:schemeClr val="bg2"/>
                </a:solidFill>
              </a:rPr>
              <a:t>supervisors for critical issues </a:t>
            </a:r>
            <a:endParaRPr lang="en-US" sz="2000" dirty="0" smtClean="0">
              <a:solidFill>
                <a:schemeClr val="bg2"/>
              </a:solidFill>
            </a:endParaRPr>
          </a:p>
          <a:p>
            <a:r>
              <a:rPr lang="en-US" sz="2000" dirty="0" smtClean="0">
                <a:solidFill>
                  <a:schemeClr val="bg2"/>
                </a:solidFill>
              </a:rPr>
              <a:t>                Alert </a:t>
            </a:r>
            <a:r>
              <a:rPr lang="en-US" sz="2000" dirty="0">
                <a:solidFill>
                  <a:schemeClr val="bg2"/>
                </a:solidFill>
              </a:rPr>
              <a:t>journalists/NGOs for social issues </a:t>
            </a:r>
            <a:endParaRPr lang="en-US" sz="2000" dirty="0" smtClean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i="1" u="sng" dirty="0">
                <a:solidFill>
                  <a:schemeClr val="bg2"/>
                </a:solidFill>
              </a:rPr>
              <a:t>Resolution Analytics </a:t>
            </a:r>
          </a:p>
          <a:p>
            <a:r>
              <a:rPr lang="en-US" sz="2000" dirty="0" smtClean="0">
                <a:solidFill>
                  <a:schemeClr val="bg2"/>
                </a:solidFill>
              </a:rPr>
              <a:t>              Track </a:t>
            </a:r>
            <a:r>
              <a:rPr lang="en-US" sz="2000" dirty="0">
                <a:solidFill>
                  <a:schemeClr val="bg2"/>
                </a:solidFill>
              </a:rPr>
              <a:t>resolution time per department </a:t>
            </a:r>
            <a:endParaRPr lang="en-US" sz="2000" dirty="0" smtClean="0">
              <a:solidFill>
                <a:schemeClr val="bg2"/>
              </a:solidFill>
            </a:endParaRPr>
          </a:p>
          <a:p>
            <a:r>
              <a:rPr lang="en-US" sz="2000" dirty="0" smtClean="0">
                <a:solidFill>
                  <a:schemeClr val="bg2"/>
                </a:solidFill>
              </a:rPr>
              <a:t>              Performance </a:t>
            </a:r>
            <a:r>
              <a:rPr lang="en-US" sz="2000" dirty="0">
                <a:solidFill>
                  <a:schemeClr val="bg2"/>
                </a:solidFill>
              </a:rPr>
              <a:t>scoring for officer accountability </a:t>
            </a:r>
            <a:endParaRPr lang="en-US" sz="2000" dirty="0" smtClean="0">
              <a:solidFill>
                <a:schemeClr val="bg2"/>
              </a:solidFill>
            </a:endParaRPr>
          </a:p>
          <a:p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smtClean="0">
                <a:solidFill>
                  <a:schemeClr val="bg2"/>
                </a:solidFill>
              </a:rPr>
              <a:t>             Identify bottlenecks</a:t>
            </a:r>
          </a:p>
          <a:p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i="1" u="sng" dirty="0">
                <a:solidFill>
                  <a:schemeClr val="bg2"/>
                </a:solidFill>
              </a:rPr>
              <a:t>Civic </a:t>
            </a:r>
            <a:r>
              <a:rPr lang="en-US" sz="2000" b="1" i="1" u="sng" dirty="0" err="1">
                <a:solidFill>
                  <a:schemeClr val="bg2"/>
                </a:solidFill>
              </a:rPr>
              <a:t>Chatbot</a:t>
            </a:r>
            <a:r>
              <a:rPr lang="en-US" sz="2000" b="1" i="1" u="sng" dirty="0">
                <a:solidFill>
                  <a:schemeClr val="bg2"/>
                </a:solidFill>
              </a:rPr>
              <a:t> </a:t>
            </a:r>
          </a:p>
          <a:p>
            <a:r>
              <a:rPr lang="en-US" sz="2000" dirty="0" smtClean="0">
                <a:solidFill>
                  <a:schemeClr val="bg2"/>
                </a:solidFill>
              </a:rPr>
              <a:t>             Answer </a:t>
            </a:r>
            <a:r>
              <a:rPr lang="en-US" sz="2000" dirty="0">
                <a:solidFill>
                  <a:schemeClr val="bg2"/>
                </a:solidFill>
              </a:rPr>
              <a:t>FAQs ("When is garbage collection</a:t>
            </a:r>
            <a:r>
              <a:rPr lang="en-US" sz="2000" dirty="0" smtClean="0">
                <a:solidFill>
                  <a:schemeClr val="bg2"/>
                </a:solidFill>
              </a:rPr>
              <a:t>?")</a:t>
            </a:r>
          </a:p>
          <a:p>
            <a:r>
              <a:rPr lang="en-US" sz="2000" dirty="0" smtClean="0">
                <a:solidFill>
                  <a:schemeClr val="bg2"/>
                </a:solidFill>
              </a:rPr>
              <a:t>             Process </a:t>
            </a:r>
            <a:r>
              <a:rPr lang="en-US" sz="2000" dirty="0">
                <a:solidFill>
                  <a:schemeClr val="bg2"/>
                </a:solidFill>
              </a:rPr>
              <a:t>requests autonomously </a:t>
            </a:r>
            <a:endParaRPr lang="en-US" sz="2000" dirty="0" smtClean="0">
              <a:solidFill>
                <a:schemeClr val="bg2"/>
              </a:solidFill>
            </a:endParaRPr>
          </a:p>
          <a:p>
            <a:r>
              <a:rPr lang="en-US" sz="2000" dirty="0" smtClean="0">
                <a:solidFill>
                  <a:schemeClr val="bg2"/>
                </a:solidFill>
              </a:rPr>
              <a:t>             24/7 </a:t>
            </a:r>
            <a:r>
              <a:rPr lang="en-US" sz="2000" dirty="0">
                <a:solidFill>
                  <a:schemeClr val="bg2"/>
                </a:solidFill>
              </a:rPr>
              <a:t>citizen support in multiple </a:t>
            </a:r>
            <a:r>
              <a:rPr lang="en-US" sz="2000" dirty="0" smtClean="0">
                <a:solidFill>
                  <a:schemeClr val="bg2"/>
                </a:solidFill>
              </a:rPr>
              <a:t>languages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89107" y="2646522"/>
            <a:ext cx="76962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i="1" u="sng" dirty="0">
                <a:solidFill>
                  <a:schemeClr val="bg2"/>
                </a:solidFill>
              </a:rPr>
              <a:t>Phase 3: Enterprise &amp; </a:t>
            </a:r>
            <a:r>
              <a:rPr lang="en-IN" sz="2800" b="1" i="1" u="sng" dirty="0" err="1">
                <a:solidFill>
                  <a:schemeClr val="bg2"/>
                </a:solidFill>
              </a:rPr>
              <a:t>Startup</a:t>
            </a:r>
            <a:r>
              <a:rPr lang="en-IN" sz="2800" b="1" i="1" u="sng" dirty="0">
                <a:solidFill>
                  <a:schemeClr val="bg2"/>
                </a:solidFill>
              </a:rPr>
              <a:t> Scale (6-12 </a:t>
            </a:r>
            <a:r>
              <a:rPr lang="en-IN" sz="2800" b="1" i="1" u="sng" dirty="0" smtClean="0">
                <a:solidFill>
                  <a:schemeClr val="bg2"/>
                </a:solidFill>
              </a:rPr>
              <a:t>Months)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chemeClr val="bg2"/>
                </a:solidFill>
              </a:rPr>
              <a:t>Multi-city </a:t>
            </a:r>
            <a:r>
              <a:rPr lang="en-IN" dirty="0">
                <a:solidFill>
                  <a:schemeClr val="bg2"/>
                </a:solidFill>
              </a:rPr>
              <a:t>platform (Nagpur → Maharashtra → India</a:t>
            </a:r>
            <a:r>
              <a:rPr lang="en-IN" dirty="0" smtClean="0">
                <a:solidFill>
                  <a:schemeClr val="bg2"/>
                </a:solidFill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chemeClr val="bg2"/>
                </a:solidFill>
              </a:rPr>
              <a:t> </a:t>
            </a:r>
            <a:r>
              <a:rPr lang="en-IN" dirty="0">
                <a:solidFill>
                  <a:schemeClr val="bg2"/>
                </a:solidFill>
              </a:rPr>
              <a:t>Integration with existing municipal systems (property tax, water billing) </a:t>
            </a:r>
            <a:endParaRPr lang="en-IN" dirty="0" smtClean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chemeClr val="bg2"/>
                </a:solidFill>
              </a:rPr>
              <a:t>API </a:t>
            </a:r>
            <a:r>
              <a:rPr lang="en-IN" dirty="0">
                <a:solidFill>
                  <a:schemeClr val="bg2"/>
                </a:solidFill>
              </a:rPr>
              <a:t>for third-party integrations (NGOs, media, citizen organizations) White-label version for other cities </a:t>
            </a:r>
            <a:endParaRPr lang="en-IN" dirty="0" smtClean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chemeClr val="bg2"/>
                </a:solidFill>
              </a:rPr>
              <a:t>Subscription </a:t>
            </a:r>
            <a:r>
              <a:rPr lang="en-IN" dirty="0">
                <a:solidFill>
                  <a:schemeClr val="bg2"/>
                </a:solidFill>
              </a:rPr>
              <a:t>model: City infrastructure scoring, analytics dashboards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0277" y="5055641"/>
            <a:ext cx="844921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u="sng" dirty="0">
                <a:solidFill>
                  <a:schemeClr val="bg2"/>
                </a:solidFill>
              </a:rPr>
              <a:t>Startup Potential: </a:t>
            </a:r>
            <a:endParaRPr lang="en-US" sz="2800" b="1" i="1" u="sng" dirty="0" smtClean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 smtClean="0">
                <a:solidFill>
                  <a:schemeClr val="bg2"/>
                </a:solidFill>
              </a:rPr>
              <a:t>Market </a:t>
            </a:r>
            <a:r>
              <a:rPr lang="en-US" sz="2200" dirty="0">
                <a:solidFill>
                  <a:schemeClr val="bg2"/>
                </a:solidFill>
              </a:rPr>
              <a:t>Size: </a:t>
            </a:r>
            <a:r>
              <a:rPr lang="en-US" sz="2200" dirty="0" smtClean="0">
                <a:solidFill>
                  <a:schemeClr val="bg2"/>
                </a:solidFill>
              </a:rPr>
              <a:t>-</a:t>
            </a:r>
          </a:p>
          <a:p>
            <a:r>
              <a:rPr lang="en-US" dirty="0" smtClean="0">
                <a:solidFill>
                  <a:schemeClr val="bg2"/>
                </a:solidFill>
              </a:rPr>
              <a:t>        4,300</a:t>
            </a:r>
            <a:r>
              <a:rPr lang="en-US" dirty="0">
                <a:solidFill>
                  <a:schemeClr val="bg2"/>
                </a:solidFill>
              </a:rPr>
              <a:t>+ cities in India </a:t>
            </a:r>
            <a:endParaRPr lang="en-US" dirty="0" smtClean="0">
              <a:solidFill>
                <a:schemeClr val="bg2"/>
              </a:solidFill>
            </a:endParaRPr>
          </a:p>
          <a:p>
            <a:r>
              <a:rPr lang="en-US" dirty="0" smtClean="0">
                <a:solidFill>
                  <a:schemeClr val="bg2"/>
                </a:solidFill>
              </a:rPr>
              <a:t>        1.4 </a:t>
            </a:r>
            <a:r>
              <a:rPr lang="en-US" dirty="0">
                <a:solidFill>
                  <a:schemeClr val="bg2"/>
                </a:solidFill>
              </a:rPr>
              <a:t>billion population </a:t>
            </a:r>
            <a:endParaRPr lang="en-US" dirty="0" smtClean="0">
              <a:solidFill>
                <a:schemeClr val="bg2"/>
              </a:solidFill>
            </a:endParaRPr>
          </a:p>
          <a:p>
            <a:r>
              <a:rPr lang="en-US" dirty="0" smtClean="0">
                <a:solidFill>
                  <a:schemeClr val="bg2"/>
                </a:solidFill>
              </a:rPr>
              <a:t>        Current </a:t>
            </a:r>
            <a:r>
              <a:rPr lang="en-US" dirty="0">
                <a:solidFill>
                  <a:schemeClr val="bg2"/>
                </a:solidFill>
              </a:rPr>
              <a:t>civic satisfaction: 35% </a:t>
            </a:r>
            <a:endParaRPr lang="en-US" dirty="0" smtClean="0">
              <a:solidFill>
                <a:schemeClr val="bg2"/>
              </a:solidFill>
            </a:endParaRPr>
          </a:p>
          <a:p>
            <a:r>
              <a:rPr lang="en-US" dirty="0" smtClean="0">
                <a:solidFill>
                  <a:schemeClr val="bg2"/>
                </a:solidFill>
              </a:rPr>
              <a:t>         TAM</a:t>
            </a:r>
            <a:r>
              <a:rPr lang="en-US" dirty="0">
                <a:solidFill>
                  <a:schemeClr val="bg2"/>
                </a:solidFill>
              </a:rPr>
              <a:t>: $500M+ (</a:t>
            </a:r>
            <a:r>
              <a:rPr lang="en-US" dirty="0" err="1">
                <a:solidFill>
                  <a:schemeClr val="bg2"/>
                </a:solidFill>
              </a:rPr>
              <a:t>GovTech</a:t>
            </a:r>
            <a:r>
              <a:rPr lang="en-US" dirty="0">
                <a:solidFill>
                  <a:schemeClr val="bg2"/>
                </a:solidFill>
              </a:rPr>
              <a:t> market) </a:t>
            </a:r>
            <a:endParaRPr lang="en-US" dirty="0" smtClean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 smtClean="0">
                <a:solidFill>
                  <a:schemeClr val="bg2"/>
                </a:solidFill>
              </a:rPr>
              <a:t>Why </a:t>
            </a:r>
            <a:r>
              <a:rPr lang="en-US" sz="2200" dirty="0">
                <a:solidFill>
                  <a:schemeClr val="bg2"/>
                </a:solidFill>
              </a:rPr>
              <a:t>Investors Would Fund </a:t>
            </a:r>
            <a:r>
              <a:rPr lang="en-US" sz="2200" dirty="0" smtClean="0">
                <a:solidFill>
                  <a:schemeClr val="bg2"/>
                </a:solidFill>
              </a:rPr>
              <a:t>This:</a:t>
            </a:r>
          </a:p>
          <a:p>
            <a:r>
              <a:rPr lang="en-US" sz="2200" dirty="0" smtClean="0">
                <a:solidFill>
                  <a:schemeClr val="bg2"/>
                </a:solidFill>
              </a:rPr>
              <a:t>      ✅ </a:t>
            </a:r>
            <a:r>
              <a:rPr lang="en-US" sz="2200" dirty="0">
                <a:solidFill>
                  <a:schemeClr val="bg2"/>
                </a:solidFill>
              </a:rPr>
              <a:t>Solves real government problem (tested at </a:t>
            </a:r>
            <a:r>
              <a:rPr lang="en-US" sz="2200" dirty="0" err="1">
                <a:solidFill>
                  <a:schemeClr val="bg2"/>
                </a:solidFill>
              </a:rPr>
              <a:t>CivicPulse</a:t>
            </a:r>
            <a:r>
              <a:rPr lang="en-US" sz="2200" dirty="0">
                <a:solidFill>
                  <a:schemeClr val="bg2"/>
                </a:solidFill>
              </a:rPr>
              <a:t> MVP scale</a:t>
            </a:r>
            <a:r>
              <a:rPr lang="en-US" sz="2200" dirty="0" smtClean="0">
                <a:solidFill>
                  <a:schemeClr val="bg2"/>
                </a:solidFill>
              </a:rPr>
              <a:t>)</a:t>
            </a:r>
          </a:p>
          <a:p>
            <a:r>
              <a:rPr lang="en-US" sz="2200" dirty="0" smtClean="0">
                <a:solidFill>
                  <a:schemeClr val="bg2"/>
                </a:solidFill>
              </a:rPr>
              <a:t>      ✅ </a:t>
            </a:r>
            <a:r>
              <a:rPr lang="en-US" sz="2200" dirty="0">
                <a:solidFill>
                  <a:schemeClr val="bg2"/>
                </a:solidFill>
              </a:rPr>
              <a:t>AI defensibility (hard to replicate our Gemini pipeline + domain </a:t>
            </a:r>
            <a:r>
              <a:rPr lang="en-US" sz="2200" dirty="0" smtClean="0">
                <a:solidFill>
                  <a:schemeClr val="bg2"/>
                </a:solidFill>
              </a:rPr>
              <a:t>     knowledge</a:t>
            </a:r>
            <a:r>
              <a:rPr lang="en-US" sz="2200" dirty="0">
                <a:solidFill>
                  <a:schemeClr val="bg2"/>
                </a:solidFill>
              </a:rPr>
              <a:t>) </a:t>
            </a:r>
            <a:endParaRPr lang="en-US" sz="2200" dirty="0" smtClean="0">
              <a:solidFill>
                <a:schemeClr val="bg2"/>
              </a:solidFill>
            </a:endParaRPr>
          </a:p>
          <a:p>
            <a:r>
              <a:rPr lang="en-US" sz="2200" dirty="0" smtClean="0">
                <a:solidFill>
                  <a:schemeClr val="bg2"/>
                </a:solidFill>
              </a:rPr>
              <a:t>     ✅ </a:t>
            </a:r>
            <a:r>
              <a:rPr lang="en-US" sz="2200" dirty="0">
                <a:solidFill>
                  <a:schemeClr val="bg2"/>
                </a:solidFill>
              </a:rPr>
              <a:t>Multi-city revenue model </a:t>
            </a:r>
            <a:endParaRPr lang="en-US" sz="2200" dirty="0" smtClean="0">
              <a:solidFill>
                <a:schemeClr val="bg2"/>
              </a:solidFill>
            </a:endParaRPr>
          </a:p>
          <a:p>
            <a:r>
              <a:rPr lang="en-US" sz="2200" dirty="0" smtClean="0">
                <a:solidFill>
                  <a:schemeClr val="bg2"/>
                </a:solidFill>
              </a:rPr>
              <a:t>     ✅ </a:t>
            </a:r>
            <a:r>
              <a:rPr lang="en-US" sz="2200" dirty="0">
                <a:solidFill>
                  <a:schemeClr val="bg2"/>
                </a:solidFill>
              </a:rPr>
              <a:t>Government procurement cycles (long-term contracts) </a:t>
            </a:r>
            <a:endParaRPr lang="en-US" sz="2200" dirty="0" smtClean="0">
              <a:solidFill>
                <a:schemeClr val="bg2"/>
              </a:solidFill>
            </a:endParaRPr>
          </a:p>
          <a:p>
            <a:r>
              <a:rPr lang="en-US" sz="2200" dirty="0" smtClean="0">
                <a:solidFill>
                  <a:schemeClr val="bg2"/>
                </a:solidFill>
              </a:rPr>
              <a:t>     ✅ </a:t>
            </a:r>
            <a:r>
              <a:rPr lang="en-US" sz="2200" dirty="0">
                <a:solidFill>
                  <a:schemeClr val="bg2"/>
                </a:solidFill>
              </a:rPr>
              <a:t>Network effects (more cities = more data = better AI)  </a:t>
            </a:r>
            <a:endParaRPr lang="en-IN" sz="2200" dirty="0">
              <a:solidFill>
                <a:schemeClr val="bg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16000" y="9594375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207107" y="2646522"/>
            <a:ext cx="7717693" cy="69063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8478092" y="2596662"/>
            <a:ext cx="8430847" cy="22538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8478092" y="5013097"/>
            <a:ext cx="8514508" cy="472490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1224</Words>
  <Application>Microsoft Office PowerPoint</Application>
  <PresentationFormat>Custom</PresentationFormat>
  <Paragraphs>169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Tomorrow Bold</vt:lpstr>
      <vt:lpstr>Wingdings</vt:lpstr>
      <vt:lpstr>Tomorrow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Confluence 2.0 Sponsorship Pitch Deck.pptx</dc:title>
  <dc:creator>Nabeel Ahmad</dc:creator>
  <cp:lastModifiedBy>Microsoft account</cp:lastModifiedBy>
  <cp:revision>34</cp:revision>
  <dcterms:created xsi:type="dcterms:W3CDTF">2006-08-16T00:00:00Z</dcterms:created>
  <dcterms:modified xsi:type="dcterms:W3CDTF">2026-06-22T14:21:49Z</dcterms:modified>
  <dc:identifier>DAHMYY1hjrE</dc:identifier>
</cp:coreProperties>
</file>